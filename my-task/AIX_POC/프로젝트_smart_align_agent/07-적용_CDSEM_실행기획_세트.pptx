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01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전략 일관성 확인 (Step1 / Discovery) — 조직목표→AI 후보과제 Top-Down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CD-SEM Recipe Creation 자동화 과제가 담당자의 개인 흥미가 아니라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조직 목표에서 위→아래로 연역된 결과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임을 1장의 연계표로 증명한다(전략 정합성·추적성).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AI 과제는 "흥미로운 기술"이 아니라 "조직이 풀어야 할 문제"에서 출발해야 한다. New AI Design Camp 방법론은 첫 단계에서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조직 목표 → 업무 목표 → 핵심 업무 → AI 대상 후보 과제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의 Top-Down 연계를 먼저 그려, 과제의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전략 정합성(왜 이 과제인가)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추적성(어느 목표에서 내려왔는가)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을 확보하도록 요구한다 (출처: 원문 04).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이 단계가 없으면 이후 단계(Pain 도출·근본원인·적정성 검토)가 아무리 정교해도 "왜 하필 이 업무를 골랐는가"에 답할 수 없다. 본 문서는 그 연결 고리를 박아두는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추적성의 출발점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이며, 이후 #06 과제 정의서의 "업무목표"·"핵심업무" 칸이 이 표를 그대로 상속받는다 (03 인용 §"조직 목표 ↔ 과제 연계").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또한 이 과제는 단순 효율화가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사람의 작업시간이라는 물리적 제약을 풀어 처리량 상한 자체를 끌어올린다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는 점에서 조직 목표(리드타임 단축)와 본원적으로 맞물린다 (03 인용).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각 레벨 1~2개로 압축한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4계층 Top-Down 연계표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한 장. 화살표가 한 방향(위→아래)으로만 흐르고, 최하단 AI 후보과제가 최상단 조직 목표까지 끊김 없이 거슬러 올라가면 정합성이 성립한다.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조직 목표(L0)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신규 공정 셋업 리드타임 단축 — 핵심 (출처: 원문 04 "리드타임 단축" 양식 적용)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업무 목표(L1)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① MI Recipe Setup 처리량 확대 ② 숙련도 편차 제거 + 24h 무중단 셋업 (03 인용)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핵심 업무(L2)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CD-SEM Recipe Creation (03 인용)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AI 대상 후보 과제(L3)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① VLM GUI-제어 기반 Recipe 자동 생성 ② 실측 좌표·align 자동 보정 (03 인용)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작성 결과 (How) — Top-Down 연계표 — 연계 흐름도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05308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[L0] 조직 목표              [L1] 업무 목표                 [L2] 핵심 업무          [L3] AI 대상 후보 과제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─────────────────────       ───────────────────────       ─────────────────       ────────────────────────────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신규 공정 셋업          ──▶  ① MI Recipe Setup        ──▶  CD-SEM             ──▶  ① VLM GUI-제어 기반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리드타임 단축 (핵심)          처리량 확대                    Recipe Creation         Recipe 자동 생성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② 숙련도 편차 제거                                ──▶  ② 실측 좌표·align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+ 24h 무중단 셋업                                   자동 보정 (핵심)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작성 결과 (How) — Top-Down 연계표 — 연계표 (추적성 매트릭스)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09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L0 조직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L1 업무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L2 핵심 업무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L3 AI 대상 후보 과제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연결 논리 (왜 위에서 내려왔나)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신규 공정 셋업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리드타임 단축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MI Recipe Setup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처리량 확대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Recipe Creation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 GUI-제어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기반 Recipe 자동 생성 (②~⑥ 연속 수행)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Recipe 셋업이 신규 공정 셋업 리드타임의 직접 구성요소 → 셋업 처리량을 늘려야 리드타임이 줄어듦 → 사람 수작업 셋업을 AI가 대체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숙련도 편차 제거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+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24h 무중단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실측 좌표·align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자동 보정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최대 병목(⑥ 오인식 수정 반복)이 숙련도 편차·작업시간 제약의 원천 → VLM 실시간 재정합으로 일관 기준·무중단 확보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58668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두 후보 과제는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별개 과제가 아니라 하나의 VLM Agent로 묶인다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— ②~⑥를 연속 수행하되 ⑥(실측 좌표·align 보정)을 핵심으로 둔다 (03 인용 Phase 4 "1순위 = ⑥, ③④는 동일 Agent로 묶음").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작성 결과 (How) — Top-Down 연계표 — 전략 정합성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점검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조직 목표에서 위→아래로 연역됐는가 (추적성)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L3 후보가 L2→L1→L0로 끊김 없이 거슬러 올라감 (위 매트릭스 "연결 논리" 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개인 흥미가 아니라 조직 KPI에 연결되는가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L0 = "리드타임 단축"이라는 조직 핵심 목표에 직결 (03 인용 "가치 중심")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핵심(본원) 업무를 다루는가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L2 = Recipe Creation은 MI 운영의 본원 업무 — 보조 업무가 아님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정량 기여 크기가 확정됐는가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리드타임 절감폭·처리량 N은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placeholder(τ/s/N)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— 캠프에서 엔지니어 확정. 정합성(방향)은 성립, 크기는 #05·#10에서 정량화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5168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판정 결론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본 과제는 조직 목표 "신규 공정 셋업 리드타임 단축"에서 Top-Down으로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연역 가능(추적성 성립)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하며 핵심 업무를 직접 겨냥한다. 따라서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전략적으로 정합한 과제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로 1차 통과시킨다. 단, 정량 기여 크기는 미확정(placeholder)이며 이는 #05 과제 적정성 검토·#10 기대효과 산정에서 채운다 (브레인스토밍 합의(2026-06-24)).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01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L0~L3 4계층 Top-Down 연계표 (각 레벨 1~2개)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각 후보 과제의 "연결 논리"(위에서 내려온 근거) 명시 — 추적성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전략 정합성 판정 노트 (추적성·KPI 연결·본원 업무·정량 크기 4축)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리드타임 절감폭·처리량 N 정량 확정 — 엔지니어/캠프 (placeholder τ/s/N → #05·#10)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Champion(&lt;담당 임원&gt;) 확정 — #06 과제 정의서에서 채움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02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대상 업무영역 정의 (Step2 Scope Analysis / Discovery)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계측(MI) 운영 전체를 L2 컬럼×L3 프로세스 플로우로 가로로 펼치고, 각 L3에 AI 대체 판정을 오버레이해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1차 PoC 대상 = Recipe Creation(②~⑥)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 을 좁혀 확정한다.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01-전략일관성-확인에서 "CD-SEM Recipe Creation"이 조직목표로부터 연역된 핵심업무임을 추적성으로 증명했다. 다만 그 핵심업무가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계측 운영이라는 더 큰 업무 지도의 어디에 위치하는지, 그리고 그 주변 업무 중 무엇을 AI로 대체할지/말지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를 가리지 않으면 PoC 범위가 흐려진다.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"모든 칸에 AI를 넣지 않는다"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AI Agent는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반복성·정형성·공수·데이터 가용성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 큰 지점에만 선별 배치한다 (출처: 원문 06 해석 포인트, 원문 01 STEP3).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80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개입 최소 단위는 L5(Task)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업무를 L1~L5로 분해해야 AI를 어디에 배치할지 정밀하게 식별할 수 있다 (출처: 원문 05 해석 포인트). 본 문서는 L1~L3까지 가로로 펼쳐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1차 대상 L3를 선별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하고, L4~L5 분해와 정량화는 03-painpoint-도출-정량화로 넘긴다.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623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PoC 경계의 합의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1차 대상과 차기(2차) 대상을 명시적으로 분리해, 이후 모든 산출물(과제 정의·To-Be·일정)이 동일한 범위 위에서 작성되게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L1~L3 가로 레이아웃 다이어그램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L1=계측(MI) 운영, L2 컬럼 4개, 각 L2 아래로 L3 프로세스 플로우. (포맷 출처: 원문 05의 L1~L5 가로 위계 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AI 대체 판정 오버레이 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각 L3에 🤖/🤝/🧑/⚙️ 판정 + 근거(반복성·정형성·공수·데이터가용성 4기준).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범위 결정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1차 대상 L3와 차기 대상 L3를 명문화.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✅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L2 4분할은 엔지니어 확정 항목이다 (2026-06-24).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아래 L2-A~D 구획과 각 L3 목록은 도메인 엔지니어 검토를 거쳐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계측(MI) 운영의 프로세스 위계로 확정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되었다. 셋업(②~⑥, B 영역)은 As-Is로 확정돼 있고, L2/L3 경계도 동일하게 확정. (출처: 03 §2 L1~L5 + 엔지니어 확정 2026-06-24)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작성 결과 (How: L2×L3 플로우 + 대체 판정) — A. L1~L3 가로 레이아웃 (Process Level 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L1 =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계측(MI) 운영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하나. 그 아래 L2 4개 컬럼을 좌→우로 두고, 각 컬럼 안에서 L3가 위→아래(또는 좌→우) 흐름을 갖는다. (포맷: 원문 05 / 배치 마킹 개념: 원문 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3375"/>
            <a:ext cx="11185855" cy="362229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L1 (Mega Process) :  계측(MI) 운영                                                    (엔지니어 확정 2026-06-24)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================================================================================================================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                                                      │ 1차 PoC 대상 ★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┌─────────────────────┐   ┌─────────────────────┐   ┌─────────────────────┐   ┌─────────────────────┐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L2 │ A. Recipe           │   │ B. 측정 실행        │   │ C. 데이터·모니터링  │   │ D. 장비 유지보수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    Management   ★   │   │   (Measurement Run) │   │   (Data &amp; Monitor)  │   │   (Maintenance)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└─────────┬───────────┘   └─────────┬───────────┘   └─────────┬───────────┘   └─────────┬───────────┘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│ (L3 flow)               │ (L3 flow)               │ (L3 flow)               │ (L3 flow)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▼                         ▼                         ▼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L3   ① 의뢰 접수             ① 로트 접수               ① 데이터 적재            ① 정기 PM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                     │                         │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                       ▼                         ▼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② Recipe Creation ★★    ② 자동 측정 Run          ② 안정성 모니터링 ◇      ② 상태 점검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(= 셋업 ②~⑥)       │                         │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                       ▼                         ▼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③ 검증·등록             ③ 결과 수집·1차 판정      ③ 이상 알람·리포트       ③ 캘리브레이션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④ 유지·개정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★  = 1차 PoC 대상 L2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★★ = 1차 PoC 대상 L3 (Recipe Creation, 내부 셋업 ②~⑥)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◇  = 차기(2차) 대상 L3 (안정성 모니터링)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35397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L2-A의 L3②(Recipe Creation)는 03의 SOP에서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[B] Recipe 셋업 ①~⑦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에 해당하며, 그중 AI 수행 범위는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②~⑥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이다 (출처: 03 §2, 셋업 ①~⑦ 중 병목 ③④⑥·최대병목 ⑥; AI 수행=②~⑥, 사람=① 검토·⑦ 최종승인).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1827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L2-C의 L3②(안정성 모니터링)는 03의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[D] 모니터링·이상 대응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에 대응하며, 사람 주기점검·야간/주말 의존으로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운영 공백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 큰 구간이다 (출처: 03 §2 Phase1).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0762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L2-B 양산 Run은 등록된 Recipe로 자동 실행되어 수작업 비중이 낮다 → 자동화 우선순위가 낮다 (출처: 03 §2, "[C] Run은 자동 실행되어 수작업 비중 낮음").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작성 결과 (How: L2×L3 플로우 + 대체 판정) — B. AI 대체 판정 오버레이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판정 범례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4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아이콘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 대체 (반복·정형·고공수, AI가 주수행)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부분 대체 (AI 보조 + 사람 판단 병행, HITL)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사람 (판단·승인·물리작업, AI 부적합)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기존 자동 (이미 장비/시스템이 자동화, 신규 AI 불필요)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83103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판정 기준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= 반복성 · 정형성 · 공수 · 데이터 가용성 (출처: 원문 06 "반복성·정형성·공수가 큰 Task 지점 선별"). 아래 표의 L2 구획·L3 목록은 엔지니어 확정(2026-06-24).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52038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L2-A. Recipe Management 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781298"/>
          <a:ext cx="11185854" cy="260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L3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 (반복성·정형성·공수·데이터가용성)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의뢰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의뢰서 정보 충분성 검토는 정형성 중간·공수 중간.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부족정보 플래깅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만 AI 보조, 최종 접수 판단은 사람. MIDAS 전산화는 외부 변수 (출처: 03 §2, MIDAS는 별도 프로젝트).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Recipe Creation ★★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(셋업 ②~⑥)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반복성 高·정형성 高·공수 最大·데이터 가용 高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(SEM 이미지 이미 축적). ③④=병목, ⑥=최대병목. SEM 화면 판독+GUI 제어가 반복적·정형적 →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1차 PoC 대상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(출처: 03 §2 병목 ③④⑥·최대 ⑥, 데이터 가용성은 [원문 06] 선별기준).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③ 검증·등록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Recipe 저장·등록은 정형적이나,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최종 검증·승인은 사람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(⑦) 유지. AI는 자가점검 리포트 보조.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④ 유지·개정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공정 변경·드리프트 기반 개정 판단은 비정형·맥락 의존 → 사람. (보정 실행은 ②로 회귀 시 AI 재사용)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94526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L2-B. 측정 실행 (Measurement Run)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6923786"/>
          <a:ext cx="11185854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L3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로트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로트 스케줄링·큐잉은 기존 시스템이 자동 처리.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자동 측정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등록 Recipe로 장비가 자동 측정 →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이미 자동화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, 신규 AI 불필요 (출처: 03 §2, "Run 자동 실행·수작업 낮음").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③ 결과 수집·1차 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정상/이상 1차 판정 일부는 룰/임계로 자동, 경계 사례는 사람. AI 보조 여지 있으나 1차 범위 밖.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8430514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L2-C. 데이터·모니터링 (Data &amp; Monitoring)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8859774"/>
          <a:ext cx="11185854" cy="158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L3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데이터 적재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측정 결과 DB 적재는 기존 파이프라인이 자동.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안정성 모니터링 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재현성·드리프트·장비상태 추세 감시. 반복성·데이터가용성 高이나 이상 원인 분석은 사람 판단 병행 →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차기(2차) 대상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(운영 공백: 사람 주기점검·야간/주말 의존) (출처: 03 §2, D-1 모니터링 공백).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③ 이상 알람·리포트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알람 트리거는 룰 자동화 가능, 원인 구분(오인식 vs 장비 vs 공정)은 사람 협업.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10557002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L2-D. 장비 유지보수 (Maintenance)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10986262"/>
          <a:ext cx="11185854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L3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정기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물리적 점검·부품 교체 → 사람(현장 작업). AI 부적합.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상태 점검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장비 자체 진단 로그·인터록이 기존 자동.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③ 캘리브레이션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기준 시료 기반 물리 보정·승인 → 사람.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작성 결과 (How: L2×L3 플로우 + 대체 판정) — C. 범위 결정 (Scope Decision)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5064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1차 PoC 대상  =  L2-A › L3② Recipe Creation  (내부 셋업 ②~⑥)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└ 근거: 반복성·정형성·공수 最大 + SEM 이미지 데이터 이미 가용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└ 최대 병목 ⑥(오인식 수정 반복) 집중 → VLM GUI-제어 + 실시간 좌표 재정합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차기(2차) 대상 =  L2-C › L3② 안정성 모니터링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└ 근거: 운영 공백(사람 주기점검·야간/주말 의존), 데이터 가용성 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└ 1차 안정화 후 Passive→Active 확장 단계에서 착수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범위 밖(이번)  =  L2-B(이미 자동) · L2-D(물리 작업) · A①/A③/A④(사람 판단·승인)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0642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1차 대상 = L2-A › L3② Recipe Creation(②~⑥)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AI(🤖)가 SEM 화면을 판독하고 GUI를 직접 제어해 Recipe를 생성하며, 실측 시작 시 좌표 shift·align 실패·오인식을 실시간 재정합한다. ①(검토)·⑦(최종승인)은 사람(🧑) 유지 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완전자동화 아님, Human-in-the-loop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(출처: SPEC §0 고정 과제 정의).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97072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차기 대상 = L2-C › L3② 안정성 모니터링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1차 셋업 자동화가 안정화된 뒤, 운영 공백(야간/주말 모니터링)을 메우는 2차 확장 후보.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6007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L2 4분할과 각 L3 경계는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엔지니어 확정(2026-06-24)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계측(MI) 운영 프로세스 위계로 고정. 이후 산출물(과제 정의·To-Be·일정)은 이 범위 위에서 작성된다.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02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L1=계측(MI) 운영, L2 컬럼 4개(A~D) 가로 레이아웃 다이어그램 (원문 05 포맷)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각 L2의 L3 프로세스 플로우 표기 (03 §2 인용)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L3별 AI 대체 판정(🤖/🤝/🧑/⚙️) + 4기준 근거 오버레이 (원문 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1차 대상(L2-A › L3② ②~⑥)·차기 대상(L2-C › L3②) 명문화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L2 4분할 =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엔지니어 확정(2026-06-24)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도메인 엔지니어가 L2/L3 경계 확정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L4~L5 분해·Pain 정량화 → 03-painpoint-도출-정량화로 이관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03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Pain Point 도출 및 정량화 (Step4 / Discovery)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대상 L3(Recipe Creation)을 As-Is 셋업 스텝(L4 ①~⑦)으로 분해하고, 각 L4 활동의 Pain Point를 빠짐없이 깐 뒤,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빈도·심각성·주요성 3축으로 정량화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해 우선순위를 매긴다. 정량 컬럼은 뒤이은 과제 적정성 검토(#05)와 기대효과 산정(#10)의 백데이터가 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왜 필요한가(Why)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과제 선정 3-STEP의 마지막 단계는 "고통의 정도(빈도·심각성·주요성)·구현 난이도·비용 효용성을 고려해 AI 과제를 선정"하는 것이다 (출처: 원문 01). 즉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어느 단계를 자동화할지는 감이 아니라 정량 점수로 정해야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결론(⑥ 오인식 수정)만 제시하면 추적성이 깨진다.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①~⑦ 전 스텝의 Pain을 동일 잣대로 점수화해야, "왜 ⑥/③④가 1순위인가"를 제3자(캠프 심사·임원)에게 정량으로 설명할 수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80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정량 점수가 곧 백데이터다.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빈도×심각성×주요성은 #05 과제 적정성 스코어카드의 "시급성·수익성" 근거이자, #10 개발일정의 "기대효과(공수↓·처리량 상한 돌파)" 산정 근거다. 여기서 점수를 매겨두지 않으면 뒷 단계가 공중에 뜬다.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623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앞 단계(#02 대상업무영역 정의)에서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L2-A › L3② Recipe Creation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을 1차 대상으로 확정해 받았다 (출처: 02 대상업무영역 정의). 이 단계는 그 L3을 한 단계 더 분해해 "Pain의 무게중심"을 찾는 작업이다.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핵심 산출(What)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L4 분해표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L3② Recipe Creation을 As-Is 셋업 ①~⑦ 7개 L4 활동으로 펼친 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L4별 Pain Point 망라 리스트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7개 스텝 각각의 고통 지점을 빠짐없이 기재.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정량화 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L4 활동 | Pain Point | 빈도 | 심각성 | 주요성 (각 1~5, τ placeholder).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4.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점수 척도 정의 + placeholder 규칙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점수의 의미와, 1~5 절대값은 캠프에서 엔지니어가 확정한다는 명시.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본 표의 1~5 점수는 모두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τ(placeholder)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다. 브레인스토밍에서 합의된 것은 "어느 스텝이 더 아픈가"의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상대 순서(가설)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뿐이며, 절대 수치·가중치·종합점수는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캠프에서 엔지니어가 정량 확정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한다 (출처: SPEC §1-5; 03 기획문서 Phase 4 — "1~5 점수·가중치·종합점수는 캠프에서 엔지니어가 정량 확정").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작성 결과(How) — 1. 대상 L3 → L4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730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02에서 받은 1차 대상 </a:t>
            </a:r>
            <a:r>
              <a:rPr sz="1400" b="0">
                <a:solidFill>
                  <a:srgbClr val="1F497D"/>
                </a:solidFill>
                <a:latin typeface="맑은 고딕"/>
              </a:rPr>
              <a:t>L2-A Recipe Management › L3② Recipe Creation</a:t>
            </a:r>
            <a:r>
              <a:rPr sz="1400" b="1">
                <a:solidFill>
                  <a:srgbClr val="1F497D"/>
                </a:solidFill>
                <a:latin typeface="맑은 고딕"/>
              </a:rPr>
              <a:t>을, As-Is 셋업 절차(엔지니어 확정 ①~⑦)를 그대로 L4 활동 축으로 삼아 분해한다 (출처: SPEC §2 As-Is 셋업 ①~⑦; 03 Phase 1 B 셋업).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01520"/>
            <a:ext cx="11185855" cy="15064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L2-A Recipe Management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 L3 ② Recipe Creation              ← #02에서 받은 1차 대상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L4-① 측정 대상 레이어/패턴 확인 (도면·스펙 검토)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L4-② 신규 Recipe 생성 → 웨이퍼/샘플 로드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L4-③ Alignment/Addressing 포인트 등록 (패턴 인식 템플릿)   ← 병목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L4-④ 측정 포인트(EP) 좌표·측정박스·측정 알고리즘 설정       ← 병목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L4-⑤ 이미징 조건(배율·전압·FOV 등) 설정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├ L4-⑥ 시험측정(Try) → 오인식/실패 지점 수정 (반복)         ← 최대 병목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└ L4-⑦ Recipe 저장·등록 →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7722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AI 수행 후보 구간은 ②~⑥, 사람 구간은 ① 검토(필요시)·⑦ 최종승인 (출처: SPEC §2; 03 Phase 5). 단 본 단계는 정량화가 목적이므로 ①~⑦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전부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의 Pain을 깐다.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작성 결과(How) — 2. 점수 척도 정의 (1~5)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세 축의 의미를 고정해, 7개 L4를 같은 자로 잰다 (출처: 원문 01 STEP3; 03 Phase 4 점수 정의).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2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정의 (무엇을 점수화하나)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1 = 낮음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5 = 높음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빈도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그 Pain이 얼마나 자주 발생하는가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드물게 발생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셋업마다 거의 매번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심각성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발생 시 불량·재측정으로 번지는 파급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사소·국소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오측·재셋업 유발, 양산 영향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주요성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셋업 전체 리드타임에 기여하는 비중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리드타임 영향 미미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리드타임의 지배적 비중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729103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placeholder 규칙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: 아래 표의 모든 숫자는 τ다. 단, ⑥은 03 기획에서 합의된 "최대 병목" 가설을 예시로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5/5/5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로 표기한다 (출처: 03 Phase 2·Phase 4 — ⑥ "빈도·공수·숙련 의존 모두 높음"). 나머지 스텝의 상대 순서는 가설이며, 절대값은 캠프 확정 대상이다.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작성 결과(How) — 3. L4별 Pain Point 정량화 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5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L4 활동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Pain Point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빈도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심각성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주요성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① 레이어/패턴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의뢰서 정보 부족·불명확 → 셋업 시 재문의·추측 (의뢰정보 부족)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단순 GUI 조작이나 반복·수작업, 표준 절차 누락 시 후속 오류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③ Align/Addressing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패턴 인식 템플릿 등록이 수작업·숙련 의존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④ EP 좌표·박스·알고리즘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측정 포인트 좌표·측정박스 설정이 수작업·숙련 의존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⑤ 이미징 조건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reference recipe 없으면 배율·전압·FOV를 엔지니어 협의로 결정 (협의 필요)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⑥ 시험측정→오인식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실측 시작 시 좌표 shift·align 실패·패턴 오인식 → 수정 반복 (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최대 병목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⑦ 저장·등록·검증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검증 체크리스트 부재 → 검증 누락 시 오류가 양산 Run으로 전파 (검증누락 전파)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19168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⑥의 5/5/5는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가설 예시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다 (placeholder). 셋업마다 거의 매번 발생(빈도)하고, 오측·재셋업으로 직결되며(심각성), 03에서 "최대 고통·셋업 리드타임의 지배적 비중"으로 합의됐다(주요성) (출처: 03 Phase 2·3).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작성 결과(How) — 4. 스텝별 정량 해석 (점수 근거 메모)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① 의뢰정보 부족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빈도는 의뢰서 품질에 좌우. 숙련도 편차의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입력측 원인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으로, MIDAS 전산화(외부 변수)와 연계되는 지점이다. 본 과제는 부족정보 플래깅 선에서만 다룬다 (출처: 03 Phase 2 A 의뢰; SPEC §2).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③④ 병목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패턴 등록·좌표/박스 설정이 수작업·숙련 의존. 빈도·주요성은 높으나 심각성은 ⑥보다 한 단계 낮은 가설(설정 자체보다 그 결과인 ⑥에서 고통이 터짐). ⑥과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같은 VLM Agent로 묶어 ②~⑥ 연속 수행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하는 후보다 (출처: 03 Phase 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⑤ 협의 필요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reference recipe가 있으면 참조로 낮은 공수, 신규 공정이면 엔지니어 협의로 빈도·주요성 변동 (출처: 03 Phase 1 ⑤ 비고). 조건부 Pain이라 단독 점수보다 ③④와 묶어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7373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⑥ 최대 병목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집중 근본원인 = (a) 패턴 인식 실패, (b) 측정박스/좌표 오류. 세 축 모두 최상위 가설이며, 이 스텝이 #04 근본원인 ideation의 핵심 입력이다 (출처: 03 Phase 3; SPEC §2 "집중 근본원인").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2016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⑦ 검증누락 전파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자체 빈도·심각성은 중간이나,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누락 시 오류가 양산 Run으로 전파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되는 후행 파급 때문에 주요성을 무시할 수 없다. To-Be에서 사람 최종검증+AI 자가점검 리포트로 받는다 (출처: SPEC §3-04; 03 Phase 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66590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Pain → 근본원인(3-Why) → 해결 아이디어 1:1 페어링은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#04에서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다룬다. 본 표의 Pain Point 컬럼이 #04의 입력이다. (양식 출처: 원문 08)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작성 결과(How) — 5. 이 표가 어디로 흘러가는가 (백데이터 연결)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90195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정량화 표 (빈도·심각성·주요성, τ)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├─→ #04 근본원인-ideation : Pain Point 컬럼을 그대로 받아 3-Why → 해결 아이디어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├─→ #05 과제적정성-검토   : 빈도·심각성·주요성 → "시급성·수익성" 스코어 근거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└─→ #10 개발일정-수립     : ⑥ 공수↓·처리량 상한 돌파 → 기대효과 산정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6121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(출처: SPEC §3 — "정량 컬럼이 #05 적정성·#10 기대효과 백데이터")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03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L3② Recipe Creation → L4 ①~⑦ 분해 (How §1)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L4별 Pain Point 망라 리스트 — 7개 스텝 전부 (How §3)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점수 척도 정의(빈도·심각성·주요성, 1~5) (How §2)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정량화 표 L4 활동 | Pain Point | 빈도 | 심각성 | 주요성 (How §3)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⑥ 최대병목(가설 5/5/5)·③④ 병목·①의뢰정보부족·⑤협의·⑦검증누락 전파 명시 (How §3·§4)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1~5 점수·가중치 확정 — 엔지니어 (캠프, placeholder 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#05 적정성·#10 기대효과로의 백데이터 연결 명시 (How §5)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04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근본원인 분석 + 문제해결 Ideation (Step5+6 / Discovery)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#03 Pain Point 도출·정량화에서 받은 L4(=As-Is ①~⑦) Pain을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근본원인(3-Why)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 까지 파고들어 각각을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해결 아이디어와 1:1로 페어링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한다. 이 단계의 결론 —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집중 근본원인 (a) 패턴 인식 실패 · (b) 측정박스/좌표 오류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 — 가 이후 #09 KSF와 05 PoC 리스크의 출처가 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10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03에서 Pain Point를 단계별로 망라하고 정량화했지만, Pain은 증상이지 원인이 아니다. 증상만 보고 해결책을 붙이면 표면 대증요법에 그친다. New AI Design Camp 방법론은 이 단계를 "개선 필요성이 높은 Pain Point를 유발하는 </a:t>
            </a:r>
            <a:r>
              <a:rPr sz="1400" b="0">
                <a:solidFill>
                  <a:srgbClr val="1F497D"/>
                </a:solidFill>
                <a:latin typeface="맑은 고딕"/>
              </a:rPr>
              <a:t>근본 원인</a:t>
            </a:r>
            <a:r>
              <a:rPr sz="1400" b="1">
                <a:solidFill>
                  <a:srgbClr val="1F497D"/>
                </a:solidFill>
                <a:latin typeface="맑은 고딕"/>
              </a:rPr>
              <a:t>을 분석하고, 이를 해결할 수 있는 방안을 </a:t>
            </a:r>
            <a:r>
              <a:rPr sz="1400" b="0">
                <a:solidFill>
                  <a:srgbClr val="1F497D"/>
                </a:solidFill>
                <a:latin typeface="맑은 고딕"/>
              </a:rPr>
              <a:t>아이디어 차원</a:t>
            </a:r>
            <a:r>
              <a:rPr sz="1400" b="1">
                <a:solidFill>
                  <a:srgbClr val="1F497D"/>
                </a:solidFill>
                <a:latin typeface="맑은 고딕"/>
              </a:rPr>
              <a:t>에서 논의"하는 구간으로 정의한다 — 그래야 다음의 실행 Process 설계에서 문제 해결 방법을 더 명확하게 설정할 수 있다 (출처: 원문 08).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93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이 단계가 하는 일은 세 가지다.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82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증상 → 원인 분리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"오인식 수정이 오래 걸린다"는 증상을, "왜?"를 세 번 물어 진짜 원인까지 내려간다.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7721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원인 → 아이디어 수렴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흩어진 셋업 Pain들의 근본원인이 결국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(a) 패턴 인식 실패 · (b) 측정박스/좌표 오류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두 갈래로 수렴함을 드러내, 해결 아이디어를 하나의 핵심 Agent(VLM 실시간 재정합)로 묶는다.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236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다음 단계의 씨앗 제공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여기서 확정한 집중 근본원인 (a)(b)가 바로 #09 KSF의 1순위 선결조건과 05 PoC가 검증할 리스크 변수가 된다. 즉 이 표는 과제의 기술 리스크를 미리 박제하는 문서다.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070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본 단계는 #03 Phase의 "근본 원인(3-Why) → 해결 아이디어표"(03 Phase 3)를 받아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L4 Pain 전체로 확장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한 상세층이다 (03 인용). 03이 집중 Pain만 4행으로 다뤘다면, 여기서는 #03이 정량화한 L4 Pain을 모두 받아 5행으로 펼친다.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Pain Point ↔ 근본원인(3-Why) ↔ 해결 아이디어 1:1 페어링 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1매. 컬럼은 방법론 양식(출처: 원문 08)을 그대로 따른다.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4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Pain Point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#03 L4(As-Is ①~⑦) Pain 리스트에서 그대로 받음 (03 인용)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근본원인 (Why → Why → Why)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"왜?"를 반복해 증상 아래의 구조적 원인까지 내려감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해결 아이디어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근본원인을 직접 겨냥하는 To-Be 방향 (아이디어 수준, 설계 아님)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수렴 근본원인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그 아이디어가 (a)(b) 중 어디로 수렴하는지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83103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산출물의 핵심 메시지: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셋업 병목(③④⑥) 해결 아이디어가 전부 (a) 패턴 인식 실패 · (b) 측정박스/좌표 오류 두 근본원인으로 수렴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하므로, 별개 기능이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하나의 VLM 실시간 재정합 Agent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로 묶인다.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작성 결과 (How) — 1. 3-Why 드릴 — ⑥ 오인식 수정 반복 (최대 병목)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가장 깊게 파야 할 최대 병목 ⑥은 "왜?"를 세 번 물어 내려간다. ⑥의 As-Is 정의 = "시험측정(Try) → 오인식/실패 지점 수정 (반복)" (출처: SPEC §2 As-Is ⑥).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3375"/>
            <a:ext cx="11185855" cy="15064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증상 : 시험측정(Try) 후 오인식·측정실패 지점을 수정하는 작업이 반복돼 셋업이 길어진다 (⑥, 최대 병목)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 왜? ─▶ 미리 만든 패턴 인식 템플릿·좌표가 실측 시작 시 그대로 맞지 않는다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└─ 왜? ─▶ 실측 시작 시 웨이퍼/스테이지 기준으로 전체 좌표가 shift 되거나 align 이 실패한다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└─ 왜? ─▶ (a) SEM 화면의 실제 패턴을 템플릿이 못 알아본다  = 패턴 인식 실패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(b) 인식하더라도 측정박스·EP 좌표가 실제 패턴과 어긋난다 = 측정박스/좌표 오류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↳ 현재는 이 (a)(b)를 사람이 화면 보며 눈으로 잡아 수동 보정 → 반복·숙련 의존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19577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→ ⑥의 근본원인은 결국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(a) 패턴 인식 실패 · (b) 측정박스/좌표 오류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두 갈래다. 이 둘이 본 과제의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집중 근본원인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이고, 이후 모든 셋업 해결 아이디어가 이 둘을 겨냥한다 (03 Phase 3 인용).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작성 결과 (How) — 2. Pain ↔ 근본원인(3-Why) ↔ 해결 아이디어 페어링 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730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03 L4 Pain 전체를 받아 1:1로 페어링한다. 각 행의 Pain은 #03에서, 근본원인 구조와 해결 아이디어 방향은 03 Phase 3 + 브레인스토밍 합의(2026-06-24)에서 온다.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01520"/>
          <a:ext cx="11185852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Pain Point (L4, #03 받음)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근본원인 (왜 → 왜 → 왜)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해결 아이디어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수렴 근본원인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⑥ 시험측정 후 오인식·실패 지점 수정 반복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템플릿을 미리 만들어도 → 실측 시작 시 전체 좌표 shift·align 실패 발생 →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(a) 패턴 인식 실패 / (b) 측정박스·좌표 오류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(위 3-Why 드릴)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VLM이 SEM 이미지를 보고 실시간으로 좌표 재정합·재align, 오인식 자동 수정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(핵심 아이디어)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(a)(b)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③ Alignment/Addressing 포인트 등록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,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④ EP 좌표·측정박스·알고리즘 설정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수작업·숙련 의존 → 표준 판단기준 부재 → 같은 패턴도 사람마다 다르게 등록(숙련도 편차)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VLM이 일관된 기준으로 패턴 등록·좌표 설정 수행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(③④를 ⑥과 같은 Agent로 묶음)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(a)(b)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① 측정 대상 레이어/패턴 확인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단계의 의뢰정보 부족 (의뢰서 정보 품질)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셋업 시 재문의·추측 발생 → 단일 참조 기준 부재 + 의뢰자가 의뢰서를 명확히 작성하지 않음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VLM이 의뢰서 부족정보를 플래깅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(MIDAS 연계 선까지 — MIDAS 전산화는 외부 변수)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(입력측)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B 전반 야간/주말 셋업 공백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셋업 처리량 상한 존재 → 사람 작업시간이라는 물리적 제약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 24h 무중단 셋업 수행, 사람은 예외만 개입(HITL)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(운영측)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⑦ Recipe 저장·등록·검증 단계 검증 누락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셋업 부실이 ⑦에서 안 걸러져 양산에 전파 → 표준 검증 체크리스트 부재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사람 최종 검증 유지 + AI 자가점검 리포트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(신뢰도·재정합 이력 자동 첨부)로 검증 보조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(검증측)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78248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표 읽는 법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— 위 두 행(⑥, ③④)의 해결 아이디어가 모두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(a)(b)로 수렴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한다. 즉 셋업 병목 해결책은 별개 기능이 아니라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하나의 VLM 실시간 재정합 Agent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(②~⑥ 연속 수행)로 묶인다 (03 Phase 3 인용). 아래 세 행(①·야간공백·⑦)은 (a)(b)와 다른 축(입력·운영·검증)을 보완하는 주변 아이디어다.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작성 결과 (How) — 3. 집중 근본원인이 다음 단계로 흐르는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이 단계의 산출이 단순 분석으로 끝나지 않고 후속 문서의 입력이 됨을 명시한다.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3375"/>
            <a:ext cx="11185855" cy="120421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집중 근본원인 (a) 패턴 인식 실패 · (b) 측정박스/좌표 오류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├─▶ #09 KSF · 제약 정의 : 선결 우선순위 #1 = "좌표 재정합 정확도"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      → 데이터 관점 KSF(SEM 이미지·ref·라벨 충분), 업무 프로세스 KSF(⑥ 재정합 잔존 = 장애요인)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└─▶ 05 PoC 실험 설계 : Phase 0 PoC = "KSF#1 좌표 재정합" 정확도 검증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→ 검증 변수 = 재정합 정확도 임계 τ, 재시도 r (placeholder, 엔지니어 확정)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17316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#09로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(a)(b)는 #09 KSF 매트릭스의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데이터 관점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(SEM 이미지·reference·라벨 충분성)과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업무 프로세스 관점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(⑥ 재정합 잔존·예외 모호 = 장애요인)의 직접 입력이다. #09 선결 우선순위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#1 = 좌표 재정합 정확도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가 곧 (a)(b)의 해소 여부다.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3746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05 PoC로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(a)(b)는 회피 대상이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Phase 0 PoC로 1순위 검증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할 리스크다 (03 Phase 4·5 인용). 검증 임계는 재정합 정확도 τ, 재시도 횟수 r 로 두되 절대 수치는 캠프에서 엔지니어가 확정한다 (placeholder).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10176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⑥의 구현 난이도(정밀 좌표 재정합 정확도)는 03에서 "남는 리스크 = ⑥의 구현 난이도 → KSF#1·Phase 0 PoC로 1순위 검증"으로 이미 식별됐다 (03 Phase 4 인용). 본 단계는 그 리스크의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근본원인 (a)(b)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를 명시적으로 분리해 후속 문서에 넘긴다.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04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Pain Point ↔ 근본원인(3-Why) ↔ 해결 아이디어 1:1 페어링 표 (How §2) — #03 L4 Pain 전체 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최대 병목 ⑥에 대한 3-Why 드릴(왜→왜→왜) 명시 (How §1)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집중 근본원인 = (a) 패턴 인식 실패 · (b) 측정박스/좌표 오류 확정 (How §1·§2)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셋업 해결 아이디어의 (a)(b) 수렴 = 단일 VLM 재정합 Agent로 묶임 명시 (How §2)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(a)(b) → #09 KSF · 05 PoC 리스크 흐름 경로 표기 (How §3)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재정합 정확도 임계 τ · 재시도 r 확정 — 엔지니어 (How §3 placeholder)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모든 사실 출처 표기(원문 08 / 03 인용 / 브레인스토밍 합의)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05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과제 적정성 검토 (Step7 + Validation 흡수)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선정 후보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VLM GUI-제어 기반 CD-SEM Recipe Creation 자동화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를 7문항 × 1~3점 스코어카드로 평가해, 종합 Σ/21을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#10 착수(Execution) 게이트의 정량 근거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로 확정하는 단계.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Discovery(#01~#04)는 "이 과제가 조직목표에서 연역됐고(#01), 대상 업무가 명확하며(#02), Pain이 정량화됐고(#03), 근본원인까지 파고들었다(#04)"를 보였다. 그러나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발굴됐다는 사실이 곧 착수해도 좋다는 뜻은 아니다.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자원이 한정된 이상, 후보를 객관적 잣대로 점수화해 "지금 이 과제를 실행할 가치가 있는가"를 게이트로 통과시켜야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과제 선정 3-STEP의 STEP 3은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"고통의 정도(빈도·심각성·시급성/중요성) · 구현 난이도 · 비용 효용성을 고려해 최종 AI 과제를 선정한다"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고 못박는다 (출처: 원문 01). 이 단계가 바로 그 STEP 3의 정량 게이트다.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방법론 4 Step 중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Step 3 Validation(가치 검증)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= "투자 효용성 및 재무적 효과 산출 / 비즈니스 임팩트 정량화 / 재무적 타당성 산출" (출처: 원문 02). 본 문서의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'비즈니스 성과' 카테고리(수익성·확장성·시급성)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가 이 Validation을 흡수한다 — 별도 Validation 문서를 두지 않고 적정성 스코어카드 안에 ROI 검증을 박는다.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7373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#03의 Pain 정량 컬럼(빈도·심각성·주요성)과 #04의 근본원인이 본 스코어카드의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백데이터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다. 점수는 여기서 새로 지어내는 것이 아니라 앞 단계 산출물에서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연역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된다(추적성).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3카테고리 × 7문항 스코어카드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(각 문항 1~3점, 종합 Σ/21):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2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문항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흡수 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전략적 중요도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본원적 경쟁력 (조직 본원적 활동 연계성)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Step7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전략적 중요도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사업전략·목표·KPI 연계성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Step7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비즈니스 성과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수익성 (ROI = 절감공수 ΔS × 처리량 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비즈니스 성과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확장성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비즈니스 성과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시급성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실행 용이성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데이터 준비 (SEM 이미지·ref recipe 가용성)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Step7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실행 용이성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준비계획 구체성 (PoC 실험설계 존재)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Step7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45103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점수 척도(τ placeholder)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: 1점=미흡/불확실, 2점=보통, 3점=우수/확실. 본 문서의 점수는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브레인스토밍 가설값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이며, 가중치·최종 확정 점수는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캠프에서 엔지니어·Champion이 정량 확정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한다 (절대 수치 아님 — τ placeholder). 1·2번은 전략 직결 항목이라 가설 만점(3점) 예시로 둔다.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작성 결과 (How: 스코어카드 + Validation) — 스코어카드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A. 전략적 중요도 (Σ_A / 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63700"/>
          <a:ext cx="11185854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문항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1. 본원적 경쟁력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(조직 본원적 활동 연계)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(가설 만점)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계측(MI) Recipe Creation은 신규 공정 셋업 리드타임을 좌우하는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본원적 활동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이다. 과제가 이 활동의 최대 병목(⑥ 오인식 수정 반복)을 정조준한다 (출처: 03 Phase 1·4 인용). 주변부 효율화가 아니라 핵심 가치사슬상의 과제이므로 가설 만점.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2. 사업전략·목표·KPI 연계성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(가설 만점)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#01 Top-Down 연계표에서 조직목표(신규 공정 셋업 리드타임 단축) → 업무목표(Recipe Setup 처리량 확대·숙련편차 제거·24h 무중단) → 핵심업무(Recipe Creation) → 본 과제로 직접 연역됨 (출처: #01 전략일관성, 03 §1 인용). KPI(리드타임·처리량)에 1:1 매핑되므로 가설 만점.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78428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B. 비즈니스 성과 (Σ_B / 9) — </a:t>
            </a:r>
            <a:r>
              <a:rPr sz="1400" b="0">
                <a:solidFill>
                  <a:srgbClr val="1F497D"/>
                </a:solidFill>
                <a:latin typeface="맑은 고딕"/>
              </a:rPr>
              <a:t>Validation/가치검증 흡수 지점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107688"/>
          <a:ext cx="11185854" cy="273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문항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3. 수익성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(ROI = 절감공수 ΔS × 처리량 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(placeholder)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ROI = (As-Is 셋업공수 s − To-Be 공수 s′) × 연간 처리량 N. ⑥이 최대 병목이므로 ΔS의 대부분이 ⑥ 절감에서 나온다 (출처: 03 Phase 4 인용).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s·s′·N은 #07 As-Is / #08 To-Be 소요시간 실측 전이라 placeholder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, 점수 τ는 캠프 확정. ROI 산식은 아래 '가치·재무 정량화' 참조.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4. 확장성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(placeholder)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ref recipe를 보유한 layer로 수평 확장 가능. 1차 단일 layer 검증 후 동일 VLM Agent를 타 layer·타 장비군으로 일반화 (출처: 03 Phase 4 "②~⑥ 연속수행" + #06 적용범위 예정). 확장 layer 수가 N을 키워 ROI를 증폭시키는 레버 — 점수 τ는 가용 layer 수 확정 후.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5. 시급성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(placeholder)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야간/주말 셋업 공백 = 처리량 상한 제약이 현재 진행형(출처: 03 Phase 2 인용). 신규 공정 셋업 수요 증가 시 병목이 즉시 리드타임으로 전이되므로 시급. 점수 τ는 셋업 적체 현황 수치 확정 후.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947916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C. 실행 용이성 (Σ_C / 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7377176"/>
          <a:ext cx="11185854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문항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6. 데이터 준비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(SEM 이미지·ref recipe 가용성)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(가설 — 강점)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이 과제의 핵심 강점.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SEM 화면 이미지·reference recipe가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이미 가용한 데이터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라 추측 설계가 아니다 (출처: 03 Why "데이터 중심" 인용; 원문 02 Data-Centric 원칙). 단, 라벨링 공수·배율/노이즈 편차·DRM은 #09 데이터 KSF에서 다룸 — 그래도 데이터 '존재' 자체는 확보됐으므로 가설 3점.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7. 준비계획 구체성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(PoC 실험설계 존재)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(가설 — 강점)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최대 리스크(⑥ 좌표 재정합 정확도)를 회피하지 않고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KSF#1 · Phase0 PoC 실험설계로 선검증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하는 구체 계획이 이미 존재 (출처: PoC 실험설계 05, 03 Phase 4 "남는 리스크" 인용). 막연한 의지가 아니라 검증 프로토콜(τ/s/r/N 변수)이 잡혀 있어 가설 3점.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작성 결과 (How: 스코어카드 + Validation) — 종합 점수 (Σ / 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75082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Σ = Σ_A + Σ_B + Σ_C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= (3 + 3)  +  (τ₃ + τ₄ + τ₅)  +  (3 + 3)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└전략 6┘    └Validation: placeholder┘  └실행 6┘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= 12 + Σ_B(τ)   /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94991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전략적 중요도 6/6 + 실행 용이성 6/6 =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12점이 가설 확정(전략 직결·데이터 강점·PoC 존재)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3926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나머지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비즈니스 성과 3문항(τ₃·τ₄·τ₅)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이 캠프에서 확정되면 Σ가 완성된다.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2861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착수 게이트 규칙(placeholder)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Σ ≥ τ_gate(캠프 확정 임계, 예: 14~15/21) → #10 Execution 착수. 미달 시 재설계 또는 보류. 이 종합점수가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#10 개발일정 착수 게이트의 정량 근거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작성 결과 (How: 스코어카드 + Validation) — 가치·재무 정량화 (Validation)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본 단계가 4 Step의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Step 3 Validation(가치 검증)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을 흡수한다는 점을 명시한다. 위 스코어카드의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3.수익성 · 4.확장성 칸이 곧 ROI 검증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이며, 별도 Validation 문서 대신 적정성 게이트 안에 재무 타당성을 박는다 (출처: 원문 02 Step3 "투자 효용성 및 재무적 효과 산출").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ROI 산식 (placeholder 변수만 — 수치는 캠프 확정):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9805"/>
            <a:ext cx="11185855" cy="15064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연간 절감 가치  ΔValue = ΔS × N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ΔS = s − s′      (셋업 1건당 공수 절감)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s  = As-Is 셋업 소요시간   → #07 As-Is 프로세스에서 실측 (s placeholder)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s′ = To-Be 셋업 소요시간   → #08 To-Be 프로세스에서 실측 (s′ placeholder)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(ΔS의 대부분 = ⑥ 오인식 수정 반복 절감, 최대 병목 — 출처 03 Phase 4)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N  = 연간 처리량 (셋업 건수)     → 확장 layer 수에 비례 (N placeholder)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+ 24h 무중단 → 처리량 상한 자체 상향 (단순 효율화 초과 — 출처 03 Why)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ROI ≈ ΔValue / (구현·운영 투자)   → 투자측 placeholder는 #10 인력·일정에서 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6007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수치 금지 원칙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s·s′·r·N·τ는 전부 placeholder다. 실측은 #07/#08, 검증 프로토콜은 PoC 실험설계 05, 일정·인력 투자측은 #10에서 확정한다. 본 문서는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산식과 게이트 구조만 박제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하고 빈칸은 캠프 확정 몫으로 남긴다 ("브레인스토밍 합의(2026-06-24)").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12437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확장성 = ROI 레버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확장 layer 수가 N을 키워 ΔValue를 증폭하므로, 4번 확장성 점수는 수익성과 곱셈 관계로 묶인다.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05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7문항 × 1~3점 스코어카드 (3카테고리: 전략/비즈니스성과/실행용이성)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전략적 중요도 2문항 — #01 연계표에서 연역, 가설 만점(3·3)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비즈니스 성과 3문항 — Validation 흡수, 수익성/확장성/시급성 τ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실행 용이성 2문항 — 데이터 강점·PoC 존재 가설 3점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종합 Σ/21 산식 + 착수 게이트 규칙 (τ_gate placeholder)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가치·재무 정량화(Validation) 서브섹션 — ROI = ΔS × N 산식, 변수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비즈니스 성과 3문항 정량 점수·τ_gate 임계 확정 — 캠프/엔지니어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698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s·s′·N 실측 — #07/#08 연계 (placeholder)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8592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&lt;담당 임원&gt;(Champion) 확정 후 게이트 승인 주체 명기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06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AI 과제 정의 (Step8 / Design) — Agent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Discovery 단계(#01~#05)에서 도출·검증한 결과를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AI 과제 정의서 1매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로 수렴시켜, "VLM GUI-제어 기반 CD-SEM Recipe Creation 자동화" 과제를 실행 가능한 단위로 확정한다.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06 · 왜 필요한가(Why)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Discovery 단계는 5개 산출물(전략 일관성→대상 업무→Pain Point→근본원인→적정성)로 흩어져 있다. 이 흩어진 결과를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단 한 장(1매)으로 압축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해, 누가 봐도 "이 과제가 무엇이고, 왜 하며, AI가 어디까지 하는가"를 즉시 읽을 수 있게 만드는 것이 Step8의 역할이다.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추적성의 도착지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정의서의 각 칸은 앞 단계 산출물이 흘러들어오는 종착점이다. 업무목표는 #01, 핵심업무 구조화는 #02, 추진배경(Pain)은 #03, 근본원인(Big Why)은 #04, 적정성 점수는 #05에서 온다. 이 매핑이 끊기면 과제가 "개인 흥미"로 전락하므로, 정의서는 곧 추적성 체크포인트다. (출처: 방법론 틀 02 Step8, 양식 원문 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역할 경계의 박제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AI Agent 칸(대상업무·요구사항·적용범위·기대효과)에서 AI 수행 구간(②~⑥)과 사람 구간(①·⑦·예외)을 못 박아,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완전자동화가 아닌 Human-in-the-loop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임을 정의서 차원에서 고정한다. (04 인용)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06 · 핵심 산출(What)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 과제 정의서 1매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원문 09 양식을 실제 값으로 채운 ASCII 박스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04 Step8 카드 상속·구체화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추적성 매핑 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정의서 각 칸 ↔ 앞 단계(#01~#05) 산출물 1:1 대응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추적성 검산용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106168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양식 필드(원문 09): 과제명 · 구분 · Champion(담당 임원) · 담당 조직 · [상세내역] 업무목표 / 핵심업무 구조화 / 추진배경(Pain Point) / 근본원인(Big Why) / AI Agent(대상업무 · 요구사항 · 적용범위 · 기대효과). (출처: 원문 09)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06 · 작성 결과(How: 정의서 1매 + 추적성) — AI 과제 정의서 (1매)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679602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과제명 : VLM GUI-제어 기반 CD-SEM Recipe Creation 자동화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구분   : ☐ Marketing   ☐ R&amp;D   ■ Production   ☐ Support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Champion(담당 임원) : &lt;담당 임원&gt;        담당 조직 : ITC AIX / MI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[상세내역]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■ 업무 목표 (부문/팀)            ← #01 전략 일관성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· 신규 공정 셋업 리드타임 단축 (조직목표 직결)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· 24h 무중단 셋업 (사람 작업시간 제약 해소)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· 숙련도 편차 제거 (숙련 무관 일관 기준)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■ 부문/본부 핵심 업무 구조화      ← #02 대상 업무 영역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계측(MI) 운영 &gt; Recipe Management &gt; Recipe Creation (As-Is ①~⑦)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① 레이어/패턴 확인  ② 신규 Recipe 생성·로드  ③ Align/Addressing 등록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④ 측정 좌표·박스·알고리즘  ⑤ 이미징 조건  ⑥ 시험측정→오인식 수정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⑦ 저장·등록·검증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■ 추진 배경 (Pain Point)         ← #03 Pain Point 정량화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⑥ 시험측정 후 오인식/실패 지점 수정 반복 = 최대 병목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(빈도·공수·숙련 의존 모두 최고치 / 정량 점수 τ는 캠프 확정)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※ 병목 = ③④⑥, 최대 병목 = ⑥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■ 근본원인 (Big Why)             ← #04 근본원인 ideation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템플릿을 미리 만들어도 실측 시작 시 전체 좌표 shift / align 실패 발생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→ (a) 패턴 인식 실패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→ (b) 측정박스·좌표 오류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(집중 근본원인 = (a)(b) — KSF·PoC 리스크의 출처)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■ AI Agent                 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─ 대상 업무 : As-Is ②~⑥    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(Recipe 생성·로드 → 패턴 등록 → 좌표·박스 → 이미징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 → 오인식 수정) 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─ 요구 사항 : SEM 이미지 판독  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+ GUI 직접 제어(클릭·입력, computer-use)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+ 실측 좌표/align 실시간 재정합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+ 오인식 자동 수정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─ 적용 범위 : 신규 Recipe 생성.   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reference recipe 보유 layer 우선 → 점진 확장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(신규 공정은 엔지니어 협의 유지 = HITL)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─ 기대 효과 : · 최대 병목(⑥) 공수↓   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· 24h 무중단 → 사람 작업시간 기반 처리량 상한 돌파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│                  · 숙련도 무관 일관 기준 수행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140191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(출처: 04 Step8 카드 상속·구체화 / 양식 원문 09 / 사실 베이스 As-Is ①~⑦ 03 Phase 1·04 Step9~10 및 브레인스토밍 합의(2026-06-24))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509126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HITL 명시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— AI Agent 대상은 ②~⑥에 한정되고, ①(의뢰서 검토·부족정보 플래깅)·⑦(최종 검증·승인)·임계값 초과 예외는 사람이 수행한다. 완전자동화가 아니다. (04 인용)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06 · 작성 결과(How: 정의서 1매 + 추적성) — 추적성 매핑 — 정의서 각 칸의 상속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각 칸이 어느 앞 단계 산출물에서 도착했는지를 1:1로 추적한다. 이 표가 끊기지 않으면 과제는 전략에서 연역된 것으로 검산된다.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2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정의서 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상속 출처(앞 단계)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무엇을 받았나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추적 링크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업무 목표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#01 전략 일관성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조직목표(셋업 리드타임 단축)에서 연역된 업무목표 3종(처리량·편차제거·24h)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./01-전략일관성-확인.md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핵심 업무 구조화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#02 대상 업무 영역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계측(MI) &gt; Recipe Management &gt; Recipe Creation 위계 + 대상 ①~⑦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./02-대상업무영역-정의.md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추진 배경(Pain Point)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#03 Pain Point 정량화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⑥=최대 병목, ③④=병목 (빈도·심각성·주요성 정량)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./03-painpoint-도출-정량화.md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근본원인(Big Why)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#04 근본원인 ideation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좌표 shift/align 실패 → (a)패턴 (b)좌표오류 (3-Why 결과)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./04-근본원인-ideation.md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(게이트) 적정성 점수 Σ/21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#05 과제 적정성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7문항 스코어카드 종합점수 = 정의서 확정 게이트 통과 근거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./05-과제적정성-검토.md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 Agent(대상·요구·범위·효과)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#03·#04 종합 + 04 Step8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병목(③④⑥)+근본원인(좌표 재정합)을 AI 수행 사양으로 변환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../04-적용_CDSEM기술.md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62603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적정성 점수(#05)는 정의서 안에 칸으로 들어가지 않고,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정의서를 작성해도 되는지 판정하는 착수 게이트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로 작동한다(Validation 흡수). 점수가 게이트를 통과해야 본 정의서가 확정된다. (출처: ./05-과제적정성-검토.md)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06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AI 과제 정의서 1매 — 헤더(과제명·구분 ■Production·Champion·담당조직) 채움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상세내역 — 업무목표 / 핵심업무 구조화 / 추진배경(Pain) / 근본원인(Big Why) 채움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AI Agent — 대상업무(②~⑥)·요구사항(판독+GUI제어+재정합+수정)·적용범위(ref layer 우선)·기대효과 채움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HITL 명시(①·⑦·예외=사람) — 완전자동화 아님 박제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추적성 매핑 표 — 각 칸 ↔ #01~#05 상속 출처 1:1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&lt;담당 임원&gt; Champion 확정 (캠프에서 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적정성 점수 Σ/21 게이트 통과 확인 (#05 완료 후)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07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As-Is 업무 프로세스 정의 (Step9 /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CD-SEM Recipe Creation 셋업을 현재 어떻게 사람이 수행하는지 ①~⑦ 플로우차트와 단계별 테이블(소요시간·사용 시스템)로 고정해, To-Be 설계(#08)·수익성(#05)·기대효과(#10)의 백데이터로 삼는다.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07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To-Be를 설계하려면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무엇을 바꾸는지의 기준선(baseline)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 먼저 있어야 한다. As-Is가 정량화되어 있지 않으면 "얼마나 좋아졌는가"를 말할 수 없고, 결국 #05 과제적정성(수익성 ΔS)도 #10 개발일정의 기대효과도 공중에 뜬다.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#08 To-Be의 출발선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To-Be 플로우차트는 As-Is ①~⑦의 같은 축 위에 🤖/🧑 레인을 다시 칠하는 것이다. As-Is가 확정돼야 대비 테이블의 before 칸이 채워진다 (SPEC §3 08-to-be-프로세스.md).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#05 수익성의 분모·분자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ROI = 절감공수 ΔS × 처리량 N. ΔS는 본 문서의 단계별 소요시간 s₁..s₇(특히 최대 병목 s₆)과 To-Be s′의 차에서 나온다 (SPEC §3 05-과제적정성-검토.md).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7373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#10 기대효과의 근거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⑥ 공수↓·처리량 상한 돌파라는 기대효과는 As-Is에서 ⑥이 실제로 최대 병목임을 보여야 설득력이 생긴다 (SPEC §3 10-개발일정-수립.md).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4266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#09 제약의 출처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사용 시스템 컬럼(특히 CD-SEM 장비 GUI)이 곧 "장비 SW 버전 의존"이라는 시스템·인프라 제약의 근거가 된다 (SPEC §3 09-ksf-제약-정의.md).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07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두 가지를 산출한다.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As-Is 플로우차트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Recipe Creation 셋업 ①~⑦ 전부 🧑 사람 수행. ⑥(시험측정 → 오인식 수정)에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반복 루프 화살표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를 그려 최대 병목을 시각화한다.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단계별 테이블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단계 | 설명 | 소요시간 | 사용 시스템. 소요시간은 실측 전이므로 placeholder s₁..s₇(s₆=최대), 합계 ΣS 행을 둔다. 사용 시스템은 MIDAS(의뢰서) · CD-SEM 장비 GUI · Recipe DB로 일반화한다.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8740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7단계 정의·병목 위치(③④⑥, 최대=⑥)·AI/사람 분담은 엔지니어 확정 사실 베이스(SPEC §2)를 그대로 받는다. As-Is 단계별 분담은 본 단계에서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전부 🧑 사람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이다 — 🤖 대체는 #08에서 시작된다.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07 · 작성 결과 (How) — (1) As-Is 플로우차트 (①~⑦, 전부 🧑 사람 수행)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병목은 ③④⑥, 최대 병목은 ⑥ — 시험측정(Try) 후 오인식/실패 지점을 찾아 수정하고 다시 측정하는 루프를 통과 기준에 도달할 때까지 반복한다 (출처: 원문 07 레인 도구 / SPEC §2 / 04 인용).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3375"/>
            <a:ext cx="11185855" cy="709828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  [입력] 공정·소자 엔지니어가 MIDAS에 의뢰서 작성 (현재 PPT 형태)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① 측정 대상 레이어/패턴 확인 (도면·스펙 검토)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② 신규 Recipe 생성 → 웨이퍼/샘플 로드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③ Alignment/Addressing 포인트 등록 (패턴 인식)   ◀ 병목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④ 측정 포인트(EP) 좌표·측정박스·알고리즘 설정    ◀ 병목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⑤ 이미징 조건(배율·전압·FOV 등) 설정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┌───────────────────────────────────────────────────┐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🧑 ⑥ 시험측정(Try) → 오인식/실패 지점 수정          │ ◀ 최대 병목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   (a) 패턴 인식 실패  (b) 측정박스·좌표 오류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└───────────────────────────────────────────────────┘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│                                        ▲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│ 통과 기준 미달 → 수정 후 재측정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└────────────────[ 반복 루프 ]────────────┘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│ 통과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│ 🧑 ⑦ Recipe 저장·등록 → 검증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[Recipe DB 등록 완료]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범례:  🧑 Human 수행 업무   ◀ 병목 구간   [ 반복 루프 ] ⑥ 시험측정↔수정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811387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⑥의 반복 루프가 As-Is 소요시간을 지배한다 — 좌표 shift/align 실패와 패턴 오인식이 누적될수록 Try-수정 사이클이 늘어나고, 이것이 s₆가 최대인 이유다 (04 인용: "시험측정 후 오인식/실패 지점 수정 반복(⑥)").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07 · 작성 결과 (How) — (2) 단계별 테이블 (소요시간·사용 시스템)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소요시간은 실측 전이므로 s₁..s₇ placeholder다 — 캠프에서 엔지니어 실측으로 확정한다(SPEC §1.5). s₆는 ⑥ 반복 루프 때문에 단계 중 최대이며, 합계 ΣS = s₁+s₂+s₃+s₄+s₅+s₆+s₇가 1건당 As-Is 셋업 리드타임이다.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80870"/>
          <a:ext cx="11185852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소요시간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사용 시스템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① 측정 대상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도면·스펙 검토로 측정 레이어/패턴 파악. 의뢰서 정보 부족 시 협의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MIDAS(의뢰서)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장비 GUI에서 신규 Recipe 생성, 웨이퍼/샘플 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③ 패턴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Alignment/Addressing 포인트(패턴 인식 템플릿) 수동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④ 좌표·박스 설정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측정 포인트(EP) 좌표·측정박스·측정 알고리즘 수동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⑤ 이미징 조건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배율·전압·FOV 등 설정. reference 없으면 협의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 / Recipe DB(ref 조회)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⑥ 시험측정·오인식 수정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시험측정(Try) → (a)패턴 실패·(b)좌표 오류 지점 수정 → 재측정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반복 루프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s₆ (최대)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⑦ 저장·검증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Recipe 저장·등록 → 검증. 검증 누락 시 후공정 전파 위험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 / Recipe DB(등록)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As-Is 셋업 리드타임 (1건당)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ΣS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38598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시스템명은 일반화했다 — 구체 장비 SW 명칭·버전은 회사 기밀이라 제외하고 "CD-SEM 장비 GUI"로 통칭한다(SPEC §1.6). MIDAS는 기존 문서(03/04)에 등장하므로 의뢰서 입력 시스템으로 표기한다. MIDAS 전산화 자체는 외부 변수(별도 프로젝트)이며 본 과제는 부족정보 플래깅 선에서만 연계한다(SPEC §2).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0898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백데이터 연결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이 테이블의 소요시간 컬럼은 (1) #08 To-Be 대비 테이블의 before 값, (2) #05 수익성 ΔS = ΣS − ΣS′의 As-Is 항, (3) #10 기대효과(⑥ 공수↓·처리량 상한 돌파)의 정량 근거로 그대로 흐른다. 사용 시스템 컬럼은 #09 시스템·인프라 제약(장비 SW 버전 의존)의 출처가 된다 (SPEC §3 07-as-is-프로세스.md).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07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As-Is 플로우차트 ①~⑦ — 전부 🧑 사람 수행으로 표기 (출처: SPEC §2)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⑥에 반복 루프 화살표(시험측정 → 오인식 수정 → 재측정)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병목 ③④⑥ · 최대 병목 ⑥ 표시 (출처: SPEC §2 / 04 인용)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단계별 테이블 4컬럼(단계·설명·소요시간·사용 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소요시간 s₁..s₇ placeholder, s₆=최대, 합계 ΣS 행 (지어낸 수치 없음)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사용 시스템 = MIDAS·CD-SEM 장비 GUI·Recipe DB로 일반화 (기밀 명칭 제외)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백데이터 연결(#08 before/after · #05 ΔS · #10 기대효과 · #09 제약)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698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s₁..s₇, ΣS 실측값 — 캠프에서 엔지니어 확정 후 갱신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08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To-Be 업무 프로세스 정의 (Step10 / Design) — VLM GUI-제어 셋업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As-Is ①~⑦와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같은 축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 위에서, ①·⑦은 사람(🧑)이, ②~⑥은 VLM(🤖)이 SEM 화면을 판독하며 GUI를 직접 제어해 연속 수행하고, 임계값을 넘는 예외만 엔지니어에게 핸드오프하는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Human-in-the-loop 프로세스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를 1장의 플로우차트와 확장 테이블로 못 박는다.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106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07에서 그린 As-Is ①~⑦는 전 구간이 사람(🧑) 작업이고, 병목 ③④와 최대 병목 ⑥이 숙련도·작업시간에 묶여 있다 (#07 인용, 출처: SPEC §2). To-Be는 이 흐름을 "어느 칸을 AI가, 어느 칸을 사람이 하는가"로 </a:t>
            </a:r>
            <a:r>
              <a:rPr sz="1400" b="0">
                <a:solidFill>
                  <a:srgbClr val="1F497D"/>
                </a:solidFill>
                <a:latin typeface="맑은 고딕"/>
              </a:rPr>
              <a:t>재정의</a:t>
            </a:r>
            <a:r>
              <a:rPr sz="1400" b="1">
                <a:solidFill>
                  <a:srgbClr val="1F497D"/>
                </a:solidFill>
                <a:latin typeface="맑은 고딕"/>
              </a:rPr>
              <a:t>해, #06 과제 정의서가 약속한 "AI Agent 대상 업무 ②~⑥"를 실제 프로세스 그림으로 확정한다 (#06 인용).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93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방법론 틀(02)이 강제하는 첫 번째 점검은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"AI·사람 역할의 명확한 구분"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이다 (출처: 원문 07, 원문 10). 본 문서는 🤖/🧑 레인을 가진 Swimlane으로 그 구분을 시각화해, 이후 #11 review가 ✅로 검산할 수 있는 근거를 남긴다.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85770"/>
            <a:ext cx="11185855" cy="88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가장 중요한 설계 원칙은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완전자동화가 아니라는 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이다. ②~⑥의 연속 자동 수행은 신뢰도 임계(θ·τ)·재시도(r)·승인 게이트라는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운영 기준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안에서만 동작하고, 기준을 벗어나면 즉시 사람에게 넘긴다. 이 운영 기준의 변수(θ/τ/r)는 #09 KSF#1·#3 수용 기준 및 05 PoC 실험설계의 측정 변수와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동일한 기호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여야 하며(설계 일관성), ②~⑥의 레인 전환 경계는 #06 적용범위와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글자 그대로 일치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해야 한다 — 불일치는 설계 오류다 (출처: SPEC §3 08 항목).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To-Be 플로우차트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As-Is와 같은 ①~⑦ 축, 🤖/🧑 레인 구분, ②~⑥ 연속 자동 수행 흐름, ⑥의 실시간 재정합 표시, 그리고 예외(임계 초과)→🧑 핸드오프 화살표.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2.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As-Is→To-Be 확장 테이블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컬럼: 단계 | To-Be 수행(재정의) | 적용 AI 기술 | 수행주체 | 소요시간(s′) | 사용 시스템 | 운영 기준.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3.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운영 기준 정의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θ(화면매칭 신뢰도), τ(재정합 정확도 임계), r(재시도 횟수), 승인 게이트. 모두 placeholder이며 #09·05와 기호 공유.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작성 결과 (How) — (1) To-Be 플로우차트 (🤖/🧑 레인)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As-Is(#07)와 동일한 ①~⑦ 가로축. As-Is가 전부 🧑였던 것과 대비해, ②~⑥이 🤖 레인으로 이동한 것이 핵심 변화다 (출처: 원문 07, 04 Step9~10 인용).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3375"/>
            <a:ext cx="11185855" cy="4377943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 ①          ②          ③          ④          ⑤          ⑥           ⑦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의뢰서       Recipe      패턴        좌표·박스    이미징       오인식       저장·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검토·플래깅  생성·로드    등록        ·알고리즘    조건         실시간       검증·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                            재정합        승인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🧑 Human    │                                                          │  🧑 Human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(부족정보   │                                                          │  (최종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플래깅,    │                                                          │   검증·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필요시)    │                                                          │   승인)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│        │                                                          │     ▲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▼        ▼                                                          │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┌────────── 🤖 AI Agent (VLM, computer-use) ──────────────┐    │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② ─▶ ③ ─▶ ④ ─▶ ⑤ ─▶ ⑥                                 │ ─▶ │ (게이트)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VLM이 SEM 화면을 판독하고 GUI를 직접 클릭·입력하여        │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②~⑤를 연속 수행 →  ⑥에서 실측 좌표 shift·align 실패·     │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│  패턴 오인식을 실시간 재정합·재align·자동 수정             │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└──────────────────────────────────────────────────────────┘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       │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예외(신뢰도/정확도 임계 초과: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θ·τ 미달 또는 재시도 r 초과)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       │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             ▼                                  │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🧑 엔지니어 핸드오프 ──────────────────────────┘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                  (사람이 수동 보정 후 ⑦ 승인으로 복귀)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범례:  🤖 AI Agent(VLM) 수행 업무    🧑 Human 수행 업무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원칙:  완전자동화 아님 — ②~⑥ 자동 수행은 운영 기준(θ·τ·r·승인게이트) 안에서만 성립,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기준 이탈 시 즉시 사람에게 핸드오프 (Human-in-the-loop)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91046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①🧑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의뢰서(MIDAS, 현재 PPT 형태)의 부족정보를 자동 플래깅하고 필요 시 사람이 검토. MIDAS 전산화는 외부 변수이므로 본 과제는 플래깅 선에서 연계 (출처: SPEC §2).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9981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②~⑥🤖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하나의 VLM Agent가 ②부터 ⑥까지를 GUI 제어로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연속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수행. 영업 예시처럼 여러 Agent로 쪼개지 않고 단일 흐름으로 묶는다 (04 인용 §"구현 매핑").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828916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⑥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실측 시작 시 좌표 shift·align 실패·패턴 오인식을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실시간 재정합·재align·자동 수정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As-Is 최대 병목을 정조준한 핵심 (#07·#06 인용).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197851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⑦🧑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엔지니어 최종 검증·승인(승인 게이트). VLM 자가점검 리포트가 보조.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566786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예외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화면매칭/재정합 신뢰도가 임계(θ·τ) 미달이거나 재시도 r을 초과하면 사람에게 핸드오프.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작성 결과 (How) — (2) As-Is → To-Be 확장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As-Is 수행·소요시간(s)·시스템은 #07에서 상속받고, To-Be 재정의·적용 AI 기술·수행주체·s′·운영 기준을 채운다.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수치는 전부 placeholder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이며 캠프에서 엔지니어가 확정한다 (출처: SPEC §1-5).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80870"/>
          <a:ext cx="11185853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979"/>
                <a:gridCol w="1597979"/>
                <a:gridCol w="1597979"/>
                <a:gridCol w="1597979"/>
                <a:gridCol w="1597979"/>
                <a:gridCol w="1597979"/>
                <a:gridCol w="1597979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To-Be 수행 (재정의)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적용 AI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수행주체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소요시간(s′)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사용 시스템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운영 기준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 의뢰서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의뢰서 부족정보 자동 플래깅, 필요 시 사람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Kimi-K2.5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(텍스트 의뢰서 파싱) +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(도면·DRM 스크린샷 판독)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(필요시)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MIDAS, 부족정보 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입력 필드 충족률 임계, 미달 항목 플래깅 후 ⑦ 보강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VLM이 GUI를 조작해 신규 Recipe 생성·웨이퍼/샘플 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Qwen3-VL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computer-use (화면판독+GUI제어)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화면매칭 신뢰도 θ 이상, 실패 시 재시도 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③ 패턴 등록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VLM이 SEM 화면 판독해 Align/Addressing 패턴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Qwen3-VL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computer-use (화면판독+GUI제어)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패턴 매칭 신뢰도 θ 이상, 미달 시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VLM이 EP 좌표·측정박스·알고리즘 자동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Qwen3-VL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computer-use (화면판독+GUI제어)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설정값 신뢰도 θ 이상, 룰 위반 시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⑤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reference 동일 시 VLM이 배율·전압·FOV 자동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Qwen3-VL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computer-use (화면판독+GUI제어)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GUI, Recipe DB(ref)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ref 일치 시 자동, 불일치 시 ⑦ 협의 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 오인식 실시간 재정합 (구 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실측 이미지 기반 좌표 shift·align 실패·오인식을 실시간 재정합·재align·자동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Qwen3-VL-30B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정밀 비전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재정합 정확도 τ 이상 + 재시도 r 이내, 초과 시 예외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저장·검증·승인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최종 검증·승인, Recipe 저장·등록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사람 (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VLM 자가점검 리포트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보조)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(최종)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s′₇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GUI, Recipe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승인 게이트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— 사람 승인 없이는 등록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예외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임계 초과 단계를 엔지니어에게 핸드오프 → 수동 보정 후 ⑦ 복귀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신뢰도 스코어 룰(θ/τ/r 기반 판정)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🧑 엔지니어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GUI, 핸드오프 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θ·τ 미달 또는 r 초과 = 핸드오프 트리거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81598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합계: ΣS′ = s′₁+…+s′₇. As-Is ΣS(#07) 대비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ΔS = ΣS − ΣS′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가 #08(본 문서)→#05 수익성(ROI=ΔS×N)·#10 기대효과의 백데이터가 된다 (출처: SPEC §3 03·05·10 항목).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작성 결과 (How) — (3) 운영 기준 — 신뢰도 임계·재시도·승인 게이트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②~⑥ 자동 수행이 폭주하지 않도록, 각 단계는 다음 변수로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게이팅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된다. 변수 기호는 #09 KSF#1·#3 수용 기준 및 05 PoC 측정 변수와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동일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하다(설계 일관성, 출처: SPEC §3 08 항목).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2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적용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화면매칭 신뢰도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②~⑤ (GUI 화면 인식·제어)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미달 시 재시도 또는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재정합 정확도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 (좌표 재정합·오인식 수정)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#09 KSF#1 수용 기준 = 05 PoC 측정 변수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재시도 횟수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②~⑥ 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 초과 = 예외 핸드오프(#09 KSF#3)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사람 최종 승인 없이는 Recipe 등록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#09 조직문화 선결조건(⑦ 사람 승인 유지)과 일치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983103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62626"/>
                </a:solidFill>
                <a:latin typeface="맑은 고딕"/>
              </a:rPr>
              <a:t>완전자동화 아님(Human-in-the-loop) 박제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: ②~⑥은 θ·τ·r 안에서만 자동이고, ① 플래깅 검토·⑦ 최종 승인·예외 핸드오프는 항상 사람이 통제권을 갖는다. 이 경계가 #09 KSF "선결 조건"(⑦ 사람 승인)과 #02 AI 대체 판정(부분 자동화)과 정렬된다 (#09·#02 인용).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08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To-Be 플로우차트(①~⑦ 축, 🤖/🧑 레인) — ①🧑 / ②~⑥🤖 / ⑦🧑 + 예외 핸드오프 화살표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⑥ 실시간 재정합·재align·오인식 자동수정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확장 테이블(단계 | To-Be 수행 | 적용 AI 기술 | 수행주체 | s′ | 사용 시스템 | 운영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적용 AI 기술 = 사내 LLM만(Kimi-K2.5 / Qwen3-VL-8B·30B), 외부 API 미사용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운영 기준 θ/τ/r/승인게이트 정의 — #09 KSF·05 PoC와 기호 동일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②~⑥ 레인 전환 = #06 적용범위와 일치(설계 일관성)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"완전자동화 아님(Human-in-the-loop)"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698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수치는 전부 placeholder(s′, θ, τ, r, N)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09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핵심 성공 요소(KSF)·제약 정의 (Step11 /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To-Be 프로세스(#08)가 의도한 성과를 내려면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반드시 선결되어야 할 조건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을, 4관점(업무 프로세스·데이터·시스템/인프라·조직 문화)에서 「핵심 성공요소 × 장애 요인 × 선결 조건 × 적용 기술」 매트릭스로 박제한다.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09 · 왜 필요한가(Why)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To-Be 흐름(②~⑥ VLM 연속수행 + ⑦ 사람 최종승인)은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그 자체로 성립하지 않는다.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좌표 재정합이 부정확하면 ⑥ 자동화가 무너지고, GUI 자동제어가 불안정하면 ②~⑤가 멈추며, 엔지니어가 신뢰하지 않으면 현장에 안 깔린다. KSF 정의는 "무엇이 충족돼야 이 설계가 작동하는가"를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착수 전에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못박아, #10 개발일정의 게이트(🚦)와 리스크 관리의 출처가 되게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KSF는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반드시 선결해야 할 항목 위주로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작성한다 — To-Be 프로세스가 의도한 성과를 달성하기 위해 반드시 충족돼야 하는 핵심 성공 조건이다. 제약 사항은 설계·추진 시 기술·시스템·조직·비용·정책 측면에서 넘을 수 없는 조건과 한계다. (출처: 원문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7300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본 단계는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장표(slide) 한 장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으로 읽혀야 한다. 4×4 매트릭스 + 선결 우선순위가 핵심이다.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09 · 핵심 산출(What)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KSF 매트릭스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4관점(rows) × 4컬럼(핵심 성공요소 · 장애 요인 · 선결 조건 · 적용 기술).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관점 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업무 프로세스 / 데이터 / 시스템·인프라 / 조직 문화. (브레인스토밍 합의(2026-06-24) — 04의 기술/조직/비용/정책 축을 실행 관점으로 재배열)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선결 우선순위 리스트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#1 → #4 순서로, 무엇을 먼저 검증·확보할지 명시.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연계 보장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10180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조직 문화의 선결(⑦ 사람 최종승인 유지)은 #08의 🧑 레인과 일치한다.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79115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장애 요인 컬럼은 #10 개발일정의 리스크 게이트(🚦) 입력이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48050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선결 #1(좌표 재정합 정확도)은 Phase0 PoC(04 Step12 / 05 실험설계)와 동일 대상이다.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09 · 작성 결과(How) — KSF 매트릭스 (4관점 × 4컬럼)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5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핵심 성공요소(KSF)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장애 요인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선결 조건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적용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업무 프로세스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②~⑥를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연속 수행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하고, 예외 발생 시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핸드오프 기준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대로 사람에게 넘긴다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 좌표 재정합 잔존 오류 · "어디서부터 사람에게 넘길지" 예외 기준 모호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신뢰도 임계값 τ·재시도 횟수 r 정의 + ⑦ 최종승인 게이트 확정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신뢰도 룰엔진 · 핸드오프 오케스트레이션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이미지·참조(ref) recipe·라벨이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충분히 확보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배율·노이즈별 이미지 편차 · 라벨링 공수 · 사내 문서 99%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DRM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숙련 엔지니어 라벨 확보 + 스크린샷→VLM 추출 파이프라인 구축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Qwen3-VL 추출 · BGE-M3 검색 · 라벨링 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시스템·인프라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GUI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자동제어가 안정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적이고 VLM 추론 자원이 확보됨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장비 SW 버전 의존성 · GPU 자원 한계 ·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외부 LLM API 전면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사내 Qwen3-VL 엔드포인트 · GPU 서버 · 섀도우(오프라인) 환경 · 안전 인터록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Qwen3-VL-8B/30B · computer-use · GPU 서버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조직 문화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엔지니어가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신뢰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하고 현장이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수용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한다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AI의 장비 직접 제어에 대한 거부감 · 검증 권한 귀속 이슈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⑦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사람 최종승인 유지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· 운영팀 협업 ·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설명가능(explainable) 리포트 · 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76168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(출처: 04 Step11 인용 + 브레인스토밍 합의(2026-06-24) — 4관점으로 재배열. 사내 LLM 제약·DRM 파이프라인은 원문 10의 "제약 다각도 검토" 적용)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5103"/>
            <a:ext cx="11185855" cy="111658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정합성 박제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조직 문화 선결 「⑦ 사람 최종승인 유지」 = #08 To-Be의 🧑 레인(⑦ 사람 최종승인 + 예외 핸드오프)과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동일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. (불일치 시 설계 오류)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장애 요인 컬럼(⑥ 잔존 오류 / 버전 의존 / DRM / 거부감) = #10 개발일정의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리스크 게이트(🚦)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입력.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적용 기술의 LLM은 전부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사내 OpenAI-호환 엔드포인트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(Qwen3-VL-8B/30B·BGE-M3). 외부 API 사용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8263"/>
            <a:ext cx="11185855" cy="164744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⚠️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안전·보안·감사 보강 (장비 직접 제어 과제이므로 필수)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본 과제는 VLM이 GUI로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장비를 직접 제어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하므로, 일반 KSF에 더해 다음을 시스템·인프라/정책·보안 관점의 선결로 못 박는다.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안전 인터록·롤백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: 실 웨이퍼·라인에 영향을 주는 동작은 인터록으로 사전 차단하고, 잘못된 제어는 즉시 롤백한다(섀도우/오프라인 우선 검증).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사고 책임소재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: AI 오작동 시 책임자·대응 절차를 사전 지정한다(= &lt;담당 임원&gt;·운영팀, #10 RACI와 연결).</a:t>
            </a:r>
          </a:p>
          <a:p>
            <a:r>
              <a:rPr sz="1100" b="0">
                <a:solidFill>
                  <a:srgbClr val="334455"/>
                </a:solidFill>
                <a:latin typeface="맑은 고딕"/>
              </a:rPr>
              <a:t>-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보안 승인·감사 추적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: DRM 문서가 스크린샷+VLM 파이프라인을 거치는 경로의 데이터 유출 점검 + 사내 엔드포인트 격리·접근로그를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보안팀이 승인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한다. AI 판정은 모델 버전과 함께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감사 로그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로 남겨 재현 가능해야 한다.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09 · 작성 결과(How) — 선결 우선순위 (먼저 검증·확보할 순서)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5064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850">
                <a:solidFill>
                  <a:srgbClr val="262626"/>
                </a:solidFill>
                <a:latin typeface="Consolas"/>
              </a:rPr>
              <a:t>#1  좌표 재정합 정확도              ← 최대 리스크. ⑥ 자동화의 성립 여부 자체.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= Phase0 PoC 검증 대상           (04 Step12 / 05 실험설계)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└ 미달 시 과제 재설계 게이트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#2  GUI 자동제어(computer-use) 안정 ← ②~⑤가 멈추지 않게. 장비 SW 버전 의존성 관리.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#3  핸드오프 기준(예외 임계값)      ← "어느 정도 오인식이면 사람에게 넘기는가" τ/r 정의.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        ▼</a:t>
            </a:r>
          </a:p>
          <a:p>
            <a:r>
              <a:rPr sz="850">
                <a:solidFill>
                  <a:srgbClr val="262626"/>
                </a:solidFill>
                <a:latin typeface="Consolas"/>
              </a:rPr>
              <a:t>#4  신뢰·수용(현장 도입)            ← 엔지니어 신뢰 + 운영팀 협업 + 단계적 도입.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0642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#1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은 다른 모든 선결의 전제다 — 재정합이 안 되면 #2~#4를 채워도 ⑥ 자동화가 성립하지 않는다. 그래서 Phase0에서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실 장비 영향 0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의 섀도우 환경으로 단독 검증한다. (출처: 04 Step12 / 05 PoC 실험설계)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97072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임계값 τ(재정합 정확도)·r(재시도 횟수)·s/s′(소요시간)·N(처리량)은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캠프에서 엔지니어가 확정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할 placeholder다. 본 문서는 변수와 검증 순서만 고정한다.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09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KSF 매트릭스 4관점 × 4컬럼(핵심 성공요소·장애 요인·선결 조건·적용 기술)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관점 축 = 업무 프로세스 / 데이터 / 시스템·인프라 / 조직 문화 (사용자 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선결 우선순위 #1~#4 명시 (#1 = Phase0 PoC = 좌표 재정합 정확도)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조직 문화 선결(⑦ 사람 승인) ↔ #08 🧑 레인 일치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장애 요인 컬럼 ↔ #10 리스크 게이트 연결 명시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적용 기술 = 사내 LLM(Qwen3-VL-8B/30B·BGE-M3)만, 외부 API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805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미확정 수치(τ/r/s/N) = placeholder, 임의 수치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698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모든 사실에 출처 표기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10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개발 일정 수립 (Step12 + Execution 흡수)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1년 내(2027) 구현을 목표로, KSF 우선순위를 분기 칸반 보드로 환산하고 분기말 Stage-Gate와 전 구간 변화관리를 박은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실행 로드맵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왜 필요한가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04 Step12는 Phase 0~3을 한 줄짜리 흐름으로만 잡아 두었다. 본 문서는 그 골격을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분기 단위로 풀어, 누가·무엇을·어떤 순서로 시작하고, 어디서 멈춰 판단하는지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까지 채운 실행 가능한 일정이다. 단계별 한 줄을 일정으로 옮기지 못하면 "내년 실행 가능"이 성립하지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세 가지를 명시적으로 박는다: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80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Stage-Gate 안전장치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Q1 말 Phase 0(좌표 재정합 PoC, KSF#1)이 수용 기준을 못 넘으면 GUI 제어 개발에 자원을 쓰기 전에 과제를 재설계한다. 먼저 깨질 곳을 먼저 친다(No-Regret). (05 PoC 판단 게이트 인용)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623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변화관리의 상시화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운영팀 협업·엔지니어 신뢰·HITL 승인 UI는 특정 분기 작업이 아니라 전 구간 상시 활동이다. 이것이 Execution(실행/변화관리) 층의 흡수다. (04 Step11 조직 제약 인용)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651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KSF 4관점과의 정렬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칸반 테마 레인이 #09 KSF 4관점(업무 프로세스 / 데이터 / 시스템·인프라 / 조직 문화)과 1:1로 맞아, 일정이 성공조건을 빠짐없이 덮는다. (SPEC §3 합의)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핵심 산출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형식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분기 칸반 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Q1~Q4 × 테마(프로세스·데이터·AI 모델·Test) 셀 채움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마크다운 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🚦 게이트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분기말 의사결정 게이트 = 다음 분기 착수조건 (Q1말=Stage-Gate)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칸반 행 + 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👤 변화관리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운영팀 협업·신뢰·HITL UI = 전 구간 상시 (Execution 흡수)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칸반 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실행 로드맵 노트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의사결정 게이트·오너십(워크스트림 리드)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Execution 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14168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분기 정의(04 Step12 인용):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Q1=Phase 0 PoC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(좌표 재정합 KSF#1) /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Q2=Phase 1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단일 layer(②~⑤+⑥ 부분) /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Q3=Phase 2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⑥ 본격+핸드오프(KSF#3) /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Q4=Phase 3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layer 확장·운영 이관(KSF#4).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0598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소요·인력은 캠프에서 엔지니어가 확정하는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placeholder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다(τ/s/r/N, &lt;담당 임원&gt;, 워크스트림 리드). 본 문서는 일정의 형식·순서·게이트만 고정한다. (SPEC §1.5)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작성 결과 (How) — 칸반 보드 + 게이트 + 변화관리 — A. 분기 칸반 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각 테마 레인은 #09 KSF 4관점과 1:1로 정렬된다(괄호 안 매핑).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5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테마 (레인)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497D"/>
                          </a:solidFill>
                          <a:latin typeface="맑은 고딕"/>
                        </a:rPr>
                        <a:t>Q1 — Phase 0 PoC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(좌표 재정합·KSF#1)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497D"/>
                          </a:solidFill>
                          <a:latin typeface="맑은 고딕"/>
                        </a:rPr>
                        <a:t>Q2 — Phase 1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(단일 layer ②~⑤+⑥부분)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497D"/>
                          </a:solidFill>
                          <a:latin typeface="맑은 고딕"/>
                        </a:rPr>
                        <a:t>Q3 — Phase 2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(⑥ 본격+핸드오프)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497D"/>
                          </a:solidFill>
                          <a:latin typeface="맑은 고딕"/>
                        </a:rPr>
                        <a:t>Q4 — Phase 3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(layer 확장·운영 이관)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프로세스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(↔ KSF 업무 프로세스)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흐름 확정 · 임계값(θ/τ/r) 정의·합의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②~⑤ 자동 수행 구현 · ⑦ 사람 승인 게이트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 루프 + 예외 핸드오프(임계 초과→🧑)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 · SOP 정립 · 의뢰서 입력 표준화 연계(MIDAS, 외부변수)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(↔ KSF 데이터)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PoC용 SEM 이미지 수집 · 숙련자 라벨링 · hard set 구성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캡처+VLM 추출 파이프라인 구축 · BGE-M3 인덱스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데이터셋 확장 · 오인식/핸드오프 피드백 수집·반영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운영 데이터 축적 · 재학습셋 구성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AI 모델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(↔ KSF 시스템·인프라)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좌표 재정합 PoC 파이프라인 (Qwen3-VL-8B vs 30B 비교)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computer-use 통합(②~⑤) · GUI 자동제어 연동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Qwen3-VL-30B 정밀(⑥) · 신뢰도 스코어·룰엔진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일반화(배율·노이즈) · 8B 경량화 · layer 확장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Test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(↔ 검증 전반)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섀도우 환경 구축 · 측정 프로토콜 확정(τ/s/r/N)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E2E 오프라인 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예외 핸드오프 검증 · 수용 게이트(recall/false-alarm)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파일럿(실 장비) · 회귀 테스트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5603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범례: 모델 레인 ②~⑥은 #08 To-Be 적용범위와 일치(Q2=②~⑤, Q3=⑥). 불일치 시 설계오류.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완전자동화 아님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— ⑦ 사람 승인은 Q2부터 끝까지 유지.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작성 결과 (How) — 칸반 보드 + 게이트 + 변화관리 — B. 🚦 게이트 레인 (분기말 의사결정 = 다음 분기 착수조건)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5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통과 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미달 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🚦 G0 (Stage-Gate)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Q1 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Phase 0 PoC: P95 오차 ≤ τ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그리고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오인식 recall ≥ r (05 게이트 인용)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Q2 착수 (GUI 제어 통합)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과제 재설계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 — fine-tune / 전용 vision / hybrid 검토 (자원 투입 전 중단)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🚦 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Q2 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단일 layer ②~⑤ E2E 오프라인 통과 · ⑦ 승인 게이트 동작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Q3 착수 (⑥ 본격)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적용 layer/패턴 좁혀 진행 + 원인 분석 (05 CONDITIONAL)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🚦 G2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Q3 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 + 예외 핸드오프 수용 게이트 충족(recall/false-alarm 기준)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Q4 착수 (확장·이관)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핸드오프 임계(τ/r) 재조정 후 재검증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🚦 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Q4 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제한 파일럿 회귀 통과 · 운영 SOP 정립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 완료·확장 의사결정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파일럿 범위 유지·운영팀과 안정화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76168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1">
                <a:solidFill>
                  <a:srgbClr val="334455"/>
                </a:solidFill>
                <a:latin typeface="맑은 고딕"/>
              </a:rPr>
              <a:t>G0가 핵심 안전장치다.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 좌표 재정합(KSF#1)이 안 되면 GUI 제어가 완벽해도 ⑥ 자동화는 성립하지 않으므로, Q1 끝에서 싸고 빠르게 판단한다. (05 §5 판단 게이트 인용)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작성 결과 (How) — 칸반 보드 + 게이트 + 변화관리 — C. 👤 변화관리 레인 (전 구간 상시 — Execution 흡수)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85854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전 구간(Q1~Q4) 상시 활동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운영팀 협업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장비 운영팀과 섀도우 환경·실장비 검증 일정 합의, 안전 인터록 운영 (04 조직/정책 제약 인용)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숙련 엔지니어의 라벨·피드백 루프 유지, 설명가능 리포트 공유, 단계적 도입으로 거부감 완화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HITL 승인 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⑦ 사람 최종 승인·예외 핸드오프를 받는 Human-in-the-loop 승인 인터페이스 — Q2 도입 후 전 구간 운영·개선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360168"/>
            <a:ext cx="11185855" cy="32029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변화관리는 분기 작업이 아니라 모든 분기에 걸친 상시 레인이다. #09 조직 문화 KSF(⑦ 사람 승인 유지·운영팀 협업·단계적 도입)와 동일 출처. (04 Step11 / #09 인용)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작성 결과 (How) — 칸반 보드 + 게이트 + 변화관리 — D. 실행 로드맵 노트 — 게이트·오너십 (Execution 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의사결정 게이트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각 분기는 직전 게이트 통과를 착수 전제로 한다(G0→Q2, G1→Q3, G2→Q4, G3→이관). 게이트는 일정이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자원 투입 결정점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이다. Champion = &lt;담당 임원&gt; (미정).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오너십(워크스트림 리드 — placeholder)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테마 레인별 단일 책임자를 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9805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프로세스 리드 &lt;리드&gt; · 데이터 리드 &lt;리드&gt; · AI 모델 리드 &lt;리드&gt; · Test/검증 리드 &lt;리드&gt; · 변화관리 리드(운영팀 접점) &lt;리드&gt;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8740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각 리드는 자기 레인의 분기 산출과 게이트 근거 데이터를 책임진다.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876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RACI (책임 매트릭스 — placeholder)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오너십을 리드 지정에서 한 단계 더 굳힌다.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6610"/>
            <a:ext cx="1091153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R(실행)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워크스트림 리드(프로세스/데이터/AI모델/Test) ·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A(승인)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Champion &lt;담당 임원&gt; ·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C(자문)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데이터 오너·모델 오너·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보안 승인자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·장비 운영팀 ·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I(공유)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현업 엔지니어.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3040"/>
            <a:ext cx="1091153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    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특히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보안 승인자·운영팀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은 #09 안전·보안 보강(인터록·롤백·감사로그)의 게이트 통과 책임을 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197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Kill 기준 (Exit) — sunk-cost 방지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게이트 재설계가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누적 2회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를 넘으면 '재설계'가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과제 중단(Kill)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을 판정한다. Kill 결정 주체 = Champion &lt;담당 임원&gt;. ('재설계'로만 회피하면 좀비 과제가 자원을 잠식 — 04/05 게이트 보강.)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840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소요·인력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: 분기별 공수·인원은 캠프에서 확정(placeholder). 본 문서는 순서·게이트·오너십 구조만 고정.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10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분기 칸반 보드(Q1~Q4 × 4테마) — How 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🚦 게이트 레인(G0~G3, Q1말=Stage-Gate) — How §B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👤 변화관리 레인(운영팀·신뢰·HITL UI, 전구간 상시) — How §C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실행 로드맵 노트(게이트·오너십/워크스트림 리드) — How §D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테마 레인 ↔ #09 KSF 4관점 1:1 정렬 표기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 ] 소요·인력·τ/s/r/N·&lt;담당 임원&gt;·워크스트림 리드 확정 (캠프·엔지니어)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FD3E6"/>
                </a:solidFill>
                <a:latin typeface="맑은 고딕"/>
              </a:rPr>
              <a:t>STEP 11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Review — 전체 설계 감사 · 산출물 패키징 ·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6EEF5"/>
                </a:solidFill>
                <a:latin typeface="맑은 고딕"/>
              </a:rPr>
              <a:t>앞선 11개 산출물(#00~#10)을 </a:t>
            </a:r>
            <a:r>
              <a:rPr sz="1400" b="1">
                <a:solidFill>
                  <a:srgbClr val="E6EEF5"/>
                </a:solidFill>
                <a:latin typeface="맑은 고딕"/>
              </a:rPr>
              <a:t>새로 쓰지 않고 검산</a:t>
            </a:r>
            <a:r>
              <a:rPr sz="1400" b="0">
                <a:solidFill>
                  <a:srgbClr val="E6EEF5"/>
                </a:solidFill>
                <a:latin typeface="맑은 고딕"/>
              </a:rPr>
              <a:t>한다. 6개 점검 질문에 각 산출물이 답을 내는지 ✅/△로 판정하고, 묶음을 패키징·발표·피드백 루프로 마무리한다.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11 · 왜 필요한가(Why)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Review는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정합성 검산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단계다. 새 내용을 생성하는 것이 아니라, 이미 만든 산출물이 서로 모순 없이 한 줄로 꿰어지는지를 확인한다. New AI Design Camp의 Check &amp; Review 점검 포인트(출처: 원문 10)를 본 과제 12개 산출물 전체에 적용한 것이다.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80870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핵심 원칙: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✅가 떨어지지 않으면, 그 질문이 가리키는 출처 파일이 부실하다는 신호다.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즉 이 문서는 결함 탐지기로 동작한다 — 판정이 △/✗로 나오는 칸은 해당 #0N 파일로 되돌아가 보강하라는 작업지시서가 된다. Review에서 무언가를 "고치는" 것이 아니라,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어디를 고쳐야 하는지 가리킨다.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11 · 핵심 산출(What)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두 부분으로 구성된다.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A. 설계 검증 체크리스트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6개 점검 질문 × (판정 · 근거 출처 링크). 원문 10의 3대 점검(역할 구분 / 병목 개선 / 제약 다각도)에 본 과제 고유 점검 3개(KSF 명확성 / 전략 추적성 / 가치 정량화)를 더했다.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80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B. 마무리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— 산출물 패키징(#00 인덱싱) · 발표(06 Design Camp 장표 세트 연결) · 피드백 반영(placeholder 확정 → 문서 업데이트 루프).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11 · 작성 결과(How) — A. 설계 검증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원문 10의 점검 질문(출처: 원문 10)을 본 과제 12개 산출물에 대조한 결과다. 04의 Check &amp; Review 3종 통과 판정(04 인용)을 12개 상세 산출물 단위로 다시 검산했다.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3375"/>
          <a:ext cx="11185852" cy="501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점검 질문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근거 (어느 산출물이 답하나)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AI·사람 역할이 Task별로 명확히 구분되는가?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#08 To-Be 프로세스의 🤖/🧑 Swimlane이 ②~⑥=AI / ①·⑦·예외=사람으로 경계를 1:1 명시하고, #02 대상업무영역의 AI 대체 판정(🤖/🤝/🧑/⚙️)이 그 근거를 제공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시간이 가장 많이 걸리는 병목 구간을 개선하는가?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#03 painpoint 정량화가 ⑥을 최대 병목(가설 5/5/5)으로 식별 → #07 As-Is에서 s₆=최대(s placeholder)로 확인 → #08 To-Be에서 ⑥을 VLM 실시간 재정합으로 정조준 대체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제약을 다각도로 검토하는가(조직 인력·역량·비용·보안 정책)?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#09 KSF·제약이 4관점(업무 프로세스 / 데이터 / 시스템·인프라 / 조직 문화)으로 장애 요인·선결 조건을 작성 — 기술 단일 측면에 치우치지 않음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KSF가 명확히(선결 조건 위주로) 작성되었는가?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#09 KSF·제약이 선결 우선순위 #1~#4(좌표재정합 정확도→GUI 자동제어 안정→핸드오프 기준→신뢰·수용)를 명시하고, #05 과제적정성의 7번 항목(준비계획 구체성)이 PoC 존재로 이를 뒷받침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과제가 전략에서 연역됐는가(추적성)?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#01 전략 일관성의 조직목표→업무목표→핵심업무→AI 후보 Top-Down 연계표가 출발점이고, #06 AI 과제 정의의 각 필드(업무목표←#01 / 추진배경←#03 / 근본원인←#04)가 도착지 — 개인 흥미가 아닌 조직목표에서 연역됨이 양끝에서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가치가 정량화됐는가?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#05 과제적정성의 수익성 항목(ROI=절감공수 ΔS×처리량 N)이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구조는 잡혔으나 값은 placeholder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(τ/s/r/N) — </a:t>
                      </a: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캠프에서 엔지니어가 실측·확정</a:t>
                      </a: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해야 ✅로 전환. 현 단계에서 △는 정상(테스트 실행 범위 밖)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729603"/>
            <a:ext cx="11185855" cy="58572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00" b="0">
                <a:solidFill>
                  <a:srgbClr val="334455"/>
                </a:solidFill>
                <a:latin typeface="맑은 고딕"/>
              </a:rPr>
              <a:t>판정 읽는 법: ✅ 5개는 "그 출처 파일이 질문에 답을 낸다"는 뜻이다. #6의 △는 결함이 아니라 </a:t>
            </a:r>
            <a:r>
              <a:rPr sz="1100" b="1">
                <a:solidFill>
                  <a:srgbClr val="334455"/>
                </a:solidFill>
                <a:latin typeface="맑은 고딕"/>
              </a:rPr>
              <a:t>설계 깊이의 경계</a:t>
            </a:r>
            <a:r>
              <a:rPr sz="1100" b="0">
                <a:solidFill>
                  <a:srgbClr val="334455"/>
                </a:solidFill>
                <a:latin typeface="맑은 고딕"/>
              </a:rPr>
              <a:t>다 — 본 세트는 "내년 실행 가능 기획"까지가 범위이고, 실측 수치는 캠프 확정 사항이므로 placeholder가 의도된 상태다(SPEC §0·§1-5 합의). 따라서 #6는 "캠프 후 확정"이라는 후속 작업으로 넘긴다(아래 B-3).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51903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검산 결과 모든 질문이 가리키는 출처 파일이 답을 내므로,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12개 산출물은 한 줄(전략→Pain→근본원인→과제 정의→To-Be→KSF→일정)로 모순 없이 꿰인다.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만약 어느 칸이 ✗로 떨어졌다면, 링크된 #0N 파일을 그 질문에 답하도록 보강하는 것이 Review의 처방이다.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998333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교차 정합성 스팟체크 (모순 탐지)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427593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질문-답 매핑 외에, 파일 간 값이 서로 어긋나지 않는지 본다(불일치=설계 오류).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8796528"/>
          <a:ext cx="1118585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검산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대조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기대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AI 수행 범위 ②~⑥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#06 적용범위 ↔ #08 🤖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동일해야 함(SPEC: 불일치=설계오류)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사람 최종 승인 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#08 🧑 레인 ↔ #09 조직문화 선결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동일해야 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운영 기준 임계값 θ/τ/r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↔ #09 선결 ↔ #10 Test 프로토콜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같은 변수명·정의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KSF 4관점 ↔ 일정 테마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 ↔ #10 칸반 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1:1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placeholder 표기 τ/s/r/N·&lt;담당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전 파일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표기 통일(지어낸 수치 없음)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11 · 작성 결과(How) — B.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B-1. 산출물 패키징 — #00이 11개를 한 묶음으로 인덱싱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3700"/>
            <a:ext cx="11185855" cy="88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12개 파일이 흩어진 문서가 아니라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하나의 실행기획 패키지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임을 #00 README가 보증한다. #00은 (1) 11개 산출물 인덱스 표, (2) 4-Step(Discovery/Design/Validation/Execution)↔항목 매핑, (3) 읽는 순서, (4) 핵심 흐름 다이어그램을 담아, 본 세트가 03 기획·04 기술을 어떻게 상세화하는지를 한 문단으로 연결한다. Review는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#00의 인덱스가 실제 파일·단계와 빠짐없이 일치하는지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를 최종 확인하는 지점이다(인덱스 누락=패키징 결함).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87625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B-2. 발표 — 06 Design Camp 장표 세트로 변환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6885"/>
            <a:ext cx="11185855" cy="88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이 11개 산출물은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그대로 발표 장표의 본문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 된다. 기존 06 Design Camp 발표 장표 세트와 연결해, 각 산출물(표·플로우차트·칸반)을 1산출물=1~2장 장표로 변환한다. SPEC §1-9에 따라 모든 표/플로우차트를 ASCII 코드블록·마크다운 표로 작성해 둔 이유가 여기 있다 —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PPTX 변환 호환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을 위해서다(브레인스토밍 합의 2026-06-24). 발표 흐름은 A 체크리스트의 6질문을 그대로 "설계가 점검을 통과했다"는 클로징 슬라이드로 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40810"/>
            <a:ext cx="11185855" cy="392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97D"/>
                </a:solidFill>
                <a:latin typeface="맑은 고딕"/>
              </a:rPr>
              <a:t>B-3. 피드백 반영 — placeholder 확정 → 문서 업데이트 루프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07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캠프 후 들어오는 피드백의 핵심은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placeholder 확정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이다. 이것이 △(#6)를 ✅로 올리는 작업이며, Review가 남기는 후속 작업 목록이다.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739005"/>
          <a:ext cx="11185852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확정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placeholder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확정 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반영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Champion(담당 임원)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#06 담당임원 필드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신뢰도/정확도·재정합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τ, 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엔지니어(캠프)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· #09 선결 · #10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소요시간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s, s′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실측(Phase 0~1)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#07 · #08 · #05 ROI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재시도 임계·처리량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r,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엔지니어·파일럿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#08 · #05 수익성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118733"/>
            <a:ext cx="11185855" cy="60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62626"/>
                </a:solidFill>
                <a:latin typeface="맑은 고딕"/>
              </a:rPr>
              <a:t>업데이트 루프: </a:t>
            </a:r>
            <a:r>
              <a:rPr sz="1150" b="1">
                <a:solidFill>
                  <a:srgbClr val="262626"/>
                </a:solidFill>
                <a:latin typeface="맑은 고딕"/>
              </a:rPr>
              <a:t>캠프 피드백 → placeholder 값 입력 → 해당 #0N 파일 수정 → #6 판정 재검산 → #00 인덱스 last_updated 갱신.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 값이 채워지면 #05 ROI·#10 기대효과가 가설에서 실측 근거로 전환되고, A 체크리스트 #6가 △→✅로 바뀐다. Review 문서는 이 루프가 닫혔는지(전 파일 placeholder 잔존 여부)를 다음 라운드에서 다시 검산한다.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2714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97D"/>
                </a:solidFill>
                <a:latin typeface="맑은 고딕"/>
              </a:rPr>
              <a:t>11 · 산출물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설계 검증 체크리스트 — 원문 10의 3대 점검 + 본 과제 고유 3점검 = 6질문, 각 판정·근거 링크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337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교차 정합성 스팟체크 — 파일 간 값 모순 탐지 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231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산출물 패키징 확인 — #00 인덱스 ↔ 실제 파일·단계 일치 검산 지점 명시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124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발표 연결 — 06 장표 세트로 변환(PPTX 호환 근거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10180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피드백 루프 — placeholder(τ/s/r/N·&lt;담당 임원&gt;) 확정 대상·주체·반영 위치 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9115"/>
            <a:ext cx="11185855" cy="33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62626"/>
                </a:solidFill>
                <a:latin typeface="맑은 고딕"/>
              </a:rPr>
              <a:t>• </a:t>
            </a:r>
            <a:r>
              <a:rPr sz="1150" b="0">
                <a:solidFill>
                  <a:srgbClr val="262626"/>
                </a:solidFill>
                <a:latin typeface="맑은 고딕"/>
              </a:rPr>
              <a:t>[x] Review = 검산이지 신규 생성 아님을 본문에 박제(✅ 미충족 = 출처 파일 부실 신호)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