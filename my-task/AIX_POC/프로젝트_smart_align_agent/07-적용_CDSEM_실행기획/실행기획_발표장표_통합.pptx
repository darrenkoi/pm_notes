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[07] As-Is 프로세스 정의 · Activity Flow (Work / Event)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33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프로세스 정의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CD-SEM Recipe Creation 셋업: 측정 의뢰(Event)를 받아 신규 Recipe를 만들고, 시험측정에서 발생하는 패턴 오인식·좌표 오류를 통과 기준까지 수정·재측정하여 Recipe DB에 등록하는 업무.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현재 ①~⑦ 전 단계를 🧑 사람이 수동 수행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병목 ③·④·⑥,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최대 병목 ⑥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(시험측정↔수정 반복 루프).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3287"/>
            <a:ext cx="11185855" cy="2300858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900">
                <a:solidFill>
                  <a:srgbClr val="262626"/>
                </a:solidFill>
                <a:latin typeface="Consolas"/>
              </a:rPr>
              <a:t> ◆[Start] 측정 의뢰서 접수(MIDAS·PPT)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 │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 ▼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[🧑① 대상확인] → [🧑② 생성·로드] → [🧑③ 패턴등록 ◀병목] → [🧑④ 좌표·박스 ◀병목] → [🧑⑤ 이미징조건]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                                                                                     │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┌─────────────────────────────────────────────────────────────────────────────────────┘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▼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[🧑⑥ 시험측정 Try ◀최대병목]  ──◆ 통과 미달 ──▶  [오인식·좌표 수정 → 재측정]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     ▲                                                      │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     └────────────────────[ 반복 루프 ]─────────────────────┘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│ ◆ 통과 충족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▼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[🧑⑦ 저장·검증]  ──▶  ◆[End] Recipe DB 등록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33873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Work / Event 기록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활동(Work, 🧑 박스)은 사람 수행 단위, 이벤트(◆)는 활동의 시작·분기·종료를 일으키는 상태 변화다.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733160"/>
          <a:ext cx="11185852" cy="2110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노드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◆ Event (Start)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의뢰서 접수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공정·소자 엔지니어가 MIDAS에 의뢰서(현 PPT) 등록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프로세스 착수 트리거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▢ Work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①~⑤ 셋업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대상 확인 → 생성·로드 → 패턴 등록 → 좌표·박스 → 이미징 조건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③④ 병목, 전부 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◆ Event (Gateway)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통과 기준 판정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시험측정 결과 통과/미달 분기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미달 시 ⑥ 반복 루프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▢ Work (최대 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⑥ Try·수정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공정 variation 이미지 차이로 오인식·좌표 오류 수정 → 재측정 반복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s₆ 최대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◆ Event (End)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DB 등록 완료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⑦ 저장·검증 후 Recipe DB 등록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프로세스 종료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[07] As-Is 각 Activity 상세 (소요시간 · 사용 시스템)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소요시간(s₁..s₇)·사용 시스템을 고정 — 백데이터(#08·#05·#10)의 before 값. s₆(⑥ 반복) 최대, 합계 ΣS = 1건당 리드타임.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33727"/>
          <a:ext cx="11185852" cy="2959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단계 (Activity)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소요시간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사용 시스템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🧑 ① 측정 대상 확인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도면·스펙 검토로 측정 레이어/패턴 파악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MIDAS(의뢰서)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🧑 ② Recipe 생성·로드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신규 Recipe 생성, 웨이퍼/샘플 로드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CD-SEM 장비 GUI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🧑 ③ 패턴 등록 (병목)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Alignment/Addressing 포인트 수동 등록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CD-SEM 장비 GUI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🧑 ④ 좌표·박스 설정 (병목)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측정 포인트(EP) 좌표·박스·알고리즘 수동 설정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CD-SEM 장비 GUI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🧑 ⑤ 이미징 조건 설정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배율·전압·FOV 등 설정 (ref 없으면 협의)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장비 GUI / Recipe DB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🧑 ⑥ 시험측정·오인식 수정 (최대 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공정 variation 이미지 차이로 패턴 실패·좌표 오류 → 수정 → 재측정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반복 루프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s₆ (최대)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CD-SEM 장비 GUI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🧑 ⑦ 저장·검증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Recipe 저장·등록 → 검증 (누락 시 후공정 전파 위험)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장비 GUI / Recipe DB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As-Is 셋업 리드타임 (1건당)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ΣS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702869"/>
            <a:ext cx="11185855" cy="60985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1">
                <a:solidFill>
                  <a:srgbClr val="334455"/>
                </a:solidFill>
                <a:latin typeface="맑은 고딕"/>
              </a:rPr>
              <a:t>백데이터 연결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— 소요시간 → #08 before 값 · #05 ΔS=ΣS−ΣS′ As-Is 항 · #10 기대효과 근거 / 사용 시스템 → #09 제약(장비 SW 버전 의존) 출처.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#06 스코프 구분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: 06의 주 400건·5분 은 ⑥ 중 Align fail 1차 PoC 슬라이스(측정의 10%) 실측, 본 s₆/ΣS 는 전체 셋업 1건 시간 → 곱하지 않고 1차 PoC ⊂ 전체 셋업 포함관계로 별도 계산.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[08] To-Be 프로세스 정의 · Swimlane (🤖 AI / 🧑 Human) + 운영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33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프로세스 정의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As-Is ①~⑦와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같은 축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위에서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①·⑦은 사람(🧑), ②~⑥은 VLM(🤖)이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SEM 화면을 판독하며 GUI를 직접 제어해 연속 수행하고, 임계(θ·τ·r)를 벗어난 예외만 엔지니어에게 핸드오프하는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Human-in-the-loop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. As-Is 최대 병목 ⑥(반복 수정)을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VLM 실시간 재정합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으로 정조준한다.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3287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To-Be Swimlane (🤖/🧑 레인 × 단계 ①~⑦)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같은 단계 축에서 ①·⑦만 🧑, ②~⑥은 🤖 연속 자동.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322574"/>
          <a:ext cx="11185848" cy="1262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8231"/>
                <a:gridCol w="1398231"/>
                <a:gridCol w="1398231"/>
                <a:gridCol w="1398231"/>
                <a:gridCol w="1398231"/>
                <a:gridCol w="1398231"/>
                <a:gridCol w="1398231"/>
                <a:gridCol w="1398231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레인 ＼ 단계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① 의뢰서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② 생성·로드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③ 패턴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④ 좌표·박스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⑤ 이미징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⑥ 재정합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⑦ 저장·승인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🧑 Human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● 검토·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플래깅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● 최종검증·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승인 ◀게이트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🤖 AI (VLM)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●━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━● 실시간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재정합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694364"/>
            <a:ext cx="11185855" cy="60985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1">
                <a:solidFill>
                  <a:srgbClr val="334455"/>
                </a:solidFill>
                <a:latin typeface="맑은 고딕"/>
              </a:rPr>
              <a:t>흐름·핸드오프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— ② ─▶ ③ ─▶ ④ ─▶ ⑤ ─▶ ⑥ : 하나의 VLM Agent가 SEM 화면을 판독해 GUI를 직접 제어하며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연속 자동 수행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(⑥은 좌표 shift·패턴 오인식을 실시간 재정합·자동 수정).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예외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(θ·τ 미달 또는 재시도 r 초과) → 🧑 엔지니어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핸드오프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→ 수동 보정 후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⑦ 승인 게이트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로 복귀. 완전자동화 아님 — Human-in-the-loop.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59082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운영 기준 (θ·τ·r·승인 게이트)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②~⑥ 자동 수행이 폭주하지 않도록 게이팅한다. 기호는 #09 KSF·05 PoC 측정 변수와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동일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(설계 일관성).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4758369"/>
          <a:ext cx="11185852" cy="141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변수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적용 위치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화면매칭 신뢰도 임계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②~⑤ (GUI 인식·제어)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미달 시 재시도 또는 핸드오프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재정합 정확도 임계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⑥ (좌표 재정합·오인식 수정)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#09 KSF#1 수용 기준 = 05 PoC 변수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재시도 횟수 임계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②~⑥ 공통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r 초과 = 예외 핸드오프(#09 KSF#3)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승인 게이트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사람 승인 없이는 Recipe 등록 불가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#09 선결조건(⑦ 사람 승인 유지)과 일치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[08] As-Is → To-Be 확장 테이블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적용 AI는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사내 LLM만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(Kimi-K2.5·Qwen3-VL), 시스템은 ①(MIDAS) 외 전 단계 CD-SEM 장비 GUI, 운영 기준(θ/τ/r)은 장표 1, 수치는 placeholder.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33727"/>
          <a:ext cx="11185855" cy="3089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To-Be 수행 (재정의)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적용 AI 기술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주체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s′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① 의뢰서 검토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의뢰서 부족정보 자동 플래깅, 필요 시 사람 검토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Kimi-K2.5(텍스트 파싱) + VLM(도면 판독)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s′₁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② Recipe 생성·로드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VLM이 GUI 조작해 신규 Recipe 생성·로드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Qwen3-VL computer-use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s′₂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③ 패턴 등록 (구 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SEM 화면 판독해 Align/Addressing 패턴 등록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Qwen3-VL computer-use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s′₃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④ 좌표·박스 (구 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EP 좌표·측정박스·알고리즘 자동 설정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Qwen3-VL computer-use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s′₄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⑤ 이미징 조건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ref 동일 시 배율·전압·FOV 자동 적용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Qwen3-VL computer-use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s′₅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⑥ 실시간 재정합 (구 최대 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좌표 shift·패턴 오인식 실시간 재정합·자동 수정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Qwen3-VL-30B 정밀 비전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s′₆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⑦ 저장·검증·승인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엔지니어 최종 검증·승인·Recipe 등록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사람 (VLM 자가점검 리포트 보조)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s′₇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833363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▸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예외 핸드오프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— θ·τ 미달 또는 재시도 r 초과 → 🧑 엔지니어 핸드오프 → 수동 보정 후 ⑦ 승인 복귀 (운영 기준 θ/τ/r = 장표 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20586"/>
            <a:ext cx="11185855" cy="60985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1">
                <a:solidFill>
                  <a:srgbClr val="334455"/>
                </a:solidFill>
                <a:latin typeface="맑은 고딕"/>
              </a:rPr>
              <a:t>절감폭 ΔS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— ΣS′=s′₁+…+s′₇, As-Is 대비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ΔS=ΣS−ΣS′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→ #05 수익성(ROI≈ΔS×N)·#10 기대효과 백데이터. ΔS 대부분은 ⑥(s′₆ ≪ s₆).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#06 스코프 구분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: 06의 주 400건·5→1분 은 ⑥ 중 Align fail 1차 PoC(측정 10%) → 1차 PoC ROI=400건×4분(06 종결), 전체 ROI=ΔS×N(#05) 별도 — 1차 PoC ⊂ 전체.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[09] KSF 매트릭스 (4관점 × 핵심성공요소·장애요인·선결조건·적용기술)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33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To-Be(#08)가 작동하려면 4관점(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업무 프로세스·데이터·시스템/인프라·조직 문화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)에서 무엇이 선결돼야 하는가를 박제한다 —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반드시 충족돼야 작동하는 must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위주(있으면 좋은 것 아님). 장애 요인 열은 #10 리스크 게이트(🚦) 입력.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23287"/>
          <a:ext cx="11185855" cy="2241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관점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핵심 성공요소 (KSF)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장애 요인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선결 조건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적용 기술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업무 프로세스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②~⑥ 연속 수행 + 예외 시 기준대로 사람 핸드오프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⑥ 좌표 재정합 잔존 오류 · 예외 기준 모호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신뢰도 임계 τ·재시도 r 정의 + ⑦ 승인 게이트 확정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신뢰도 룰엔진 · 핸드오프 오케스트레이션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데이터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SEM 이미지·ref recipe·라벨 충분 확보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배율·노이즈 편차 · 라벨 공수 · 사내문서 99%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DRM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숙련 엔지니어 라벨 + 스크린샷→VLM 추출 파이프라인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Qwen3-VL 추출 · BGE-M3 검색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시스템·인프라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GUI 자동제어 안정 + VLM 추론 자원 확보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장비 SW 버전 의존 · GPU 한계 ·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외부 LLM API 차단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사내 Qwen3-VL 엔드포인트 · GPU 서버 · 섀도우 환경 · 안전 인터록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Qwen3-VL-8B/30B · computer-use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조직 문화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엔지니어 신뢰 + 현장 수용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장비 직접 제어 거부감 · 검증 권한 귀속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⑦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사람 최종승인 유지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· 운영팀 협업 · 단계적 도입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설명가능 리포트 · HITL 승인 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74247"/>
            <a:ext cx="11185855" cy="60985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1">
                <a:solidFill>
                  <a:srgbClr val="334455"/>
                </a:solidFill>
                <a:latin typeface="맑은 고딕"/>
              </a:rPr>
              <a:t>정합성 박제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— 조직 문화 선결 「⑦ 사람 최종승인 유지」 = #08 To-Be 🧑 레인과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동일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(불일치 = 설계 오류) / 장애 요인 열 = #10 리스크 게이트(🚦) 입력 / 적용 기술 LLM은 전부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사내 OpenAI-호환 엔드포인트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(외부 API 없음).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[09] 선결 우선순위 (#1~#4) + 안전·보안·감사 보강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무엇을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먼저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검증·확보할지 순서.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#1은 다른 모든 선결의 전제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안 되면 #2~#4를 채워도 ⑥ 자동화가 성립하지 않는다.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33727"/>
          <a:ext cx="11185854" cy="16211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순위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선결 항목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성격 · 연결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#1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좌표 재정합 정확도 (τ)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최대 리스크 · ⑥ 자동화 성립 여부 자체 =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Phase0 PoC 검증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(04 S12·05), 실 장비 영향 0 섀도우, 미달 시 재설계 게이트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#2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GUI 자동제어(computer-use) 안정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②~⑤ 무중단 · 장비 SW 버전 의존성 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#3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핸드오프 기준 (예외 임계 τ/r)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"어느 오인식부터 사람에게 넘기나" 정의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#4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신뢰·수용 (현장 도입)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엔지니어 신뢰 + 운영팀 협업 + 단계적 도입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364608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■ 안전·보안·감사 보강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(VLM이 장비를 직접 제어하는 과제이므로 필수)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763895"/>
          <a:ext cx="11185854" cy="113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039"/>
                <a:gridCol w="8053815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선결 내용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안전 인터록·롤백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실 웨이퍼·라인 영향 동작은 인터록 사전 차단 + 오제어 즉시 롤백 (섀도우/오프라인 우선 검증)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사고 책임소재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AI 오작동 시 책임자·대응 절차 사전 지정 (&lt;담당 임원&gt;·운영팀, #10 RACI 연결)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보안 승인·감사 추적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DRM→VLM 경로 유출 점검 + 사내 엔드포인트 격리·접근로그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보안팀 승인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, AI 판정은 모델 버전과 함께 감사 로그로 재현 가능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005191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τ(재정합 정확도)·r(재시도)·s/s′(소요시간)·N(처리량)은 캠프/PoC에서 엔지니어 확정 placeholder — 본 장표는 변수와 검증 순서만 고정한다.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[10] 분기 칸반 보드 (Q1~Q4 × 테마, 🚦게이트 · 👤변화관리)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33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목표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1년(2027) ·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단위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분기(Q1~Q4) ·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DoD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운영 이관/제한 파일럿 통과.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Q1에 최대 리스크 PoC를 배치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해 Stage-Gate(G0)로 먼저 친다. 테마 레인은 #09 KSF 4관점과 1:1.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23287"/>
          <a:ext cx="11185855" cy="26003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테마 (레인)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Q1 — Phase0 PoC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(재정합·KSF#1)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Q2 — Phase1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(단일 layer ②~⑤)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Q3 — Phase2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(⑥ 본격+핸드오프)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Q4 — Phase3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(확장·이관)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프로세스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(↔업무)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As-Is/To-Be 확정·임계 θ/τ/r 정의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②~⑤ 자동 수행·⑦ 승인 게이트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⑥ 재정합+예외 핸드오프 도입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운영 이관·SOP·MIDAS 연계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데이터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SEM 이미지 수집·숙련자 라벨·hard set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캡처+VLM 추출 파이프라인·BGE-M3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데이터셋 확장·핸드오프 피드백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운영 데이터 축적·재학습셋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AI 모델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(↔시스템)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재정합 PoC (8B vs 30B 비교)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computer-use 통합(②~⑤)·GUI 연동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30B 정밀(⑥)·신뢰도 룰엔진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일반화·8B 경량화·layer 확장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Test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섀도우 환경·측정 프로토콜(τ/s/r/N)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단일 layer E2E 오프라인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예외 핸드오프·수용 게이트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제한 파일럿(실장비)·회귀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🚦 게이트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G0 Stage-Gate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G1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G2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G3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👤 변화관리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운영팀 협업·엔지니어 신뢰·HITL 승인 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──▶ 전 구간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──▶ 상시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──▶ (Execution)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633338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범례 — 모델 레인 ②~⑥ = #08 To-Be 적용범위 일치(Q2=②~⑤, Q3=⑥), 불일치=설계오류.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완전자동화 아님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— ⑦ 사람 승인은 Q2부터 끝까지 유지. 변화관리는 분기에 가두지 않는 가로 레인.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[10] 🚦 게이트 레인 (G0~G3) + 실행 로드맵 (오너십·RACI·Kill)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33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분기말 게이트 =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다음 분기 자원 투입 결정점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(일정 아님).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G0가 핵심 안전장치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좌표 재정합(KSF#1)이 안 되면 GUI 제어가 완벽해도 ⑥ 자동화는 성립하지 않으므로, Q1 끝에서 싸고 빠르게 판단한다.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23287"/>
          <a:ext cx="11185855" cy="20345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게이트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시점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판정 기준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통과 →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미달 →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🚦 G0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(Stage-Gate)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Q1말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Phase0 PoC: P95 오차 ≤ τ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그리고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오인식 recall ≥ 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Q2 착수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(GUI 제어 통합)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과제 재설계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— fine-tune/전용 vision/hybrid (자원 투입 전 중단)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🚦 G1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Q2말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단일 layer ②~⑤ E2E 오프라인 통과·⑦ 승인 동작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Q3 착수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(⑥ 본격)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layer/패턴 좁혀 진행 + 원인 분석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🚦 G2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Q3말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⑥ 재정합+예외 핸드오프 수용 게이트(recall/false-alarm)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Q4 착수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(확장·이관)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핸드오프 임계 τ/r 재조정 후 재검증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🚦 G3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Q4말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제한 파일럿 회귀 통과·운영 SOP 정립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운영 이관·확장 결정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파일럿 범위 유지·안정화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067554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실행 로드맵 노트 (오너십 · RACI · Kill)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466841"/>
          <a:ext cx="11185854" cy="113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039"/>
                <a:gridCol w="8053815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오너십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Champion=&lt;담당 임원&gt;(A) · 워크스트림 리드(R): 프로세스·데이터·AI모델·Test·변화관리 각 &lt;리드&gt;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RACI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R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워크스트림 리드 ·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A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Champion ·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C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데이터/모델 오너·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보안 승인자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·운영팀 ·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I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현업 엔지니어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Kill 기준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게이트 재설계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누적 2회 초과 → 재설계 아닌 과제 중단(Kill)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, 결정=Champion (좀비 과제 자원 잠식 방지)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708137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소요·인력·τ/s/r/N·&lt;담당 임원&gt;·&lt;리드&gt;는 캠프/PoC에서 엔지니어 확정 placeholder — 본 장표는 순서·게이트·오너십 구조만 고정한다.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[11] 설계 검증 체크리스트 (6질문 × 판정 · 근거)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33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원문 10의 3대 점검(역할 구분·병목 개선·제약 다각도)에 본 과제 고유 3점검(KSF 명확·전략 추적성·가치 정량)을 더한 6질문.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질문은 고정, 판정·근거만 채운다.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✅ = 출처 파일이 답함 / △ = 구조는 잡혔으나 값 placeholder / ❌ = 회귀 보강.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23287"/>
          <a:ext cx="11185852" cy="3427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점검 질문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근거 — 어느 산출물이 답하나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AI·사람 역할이 Task별로 명확히 구분되는가?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#08 🤖/🧑 Swimlane(②~⑥=AI / ①·⑦·예외=사람) + #02 AI 대체 판정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최대 병목 구간을 개선하는가?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#03 ⑥ 최대 병목 식별 → #07 s₆=최대 → #08 ⑥ VLM 실시간 재정합 대체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제약을 다각도로 검토하는가?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#09 4관점(업무 프로세스·데이터·시스템/인프라·조직 문화) 장애·선결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KSF가 선결 조건 위주로 명확한가?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#09 선결 우선순위 #1~#4 + #05 준비계획 구체성(PoC)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과제가 전략에서 연역됐는가(추적성)?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#01 Top-Down 연계표(출발) ↔ #06 과제정의 각 필드(도착)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96277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가치가 정량화됐는가?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#05 ROI=ΔS×N 구조는 잡힘, 값은 placeholder(τ/s/r/N) → 캠프 실측 시 ✅ (현 단계 △ 정상)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60109"/>
            <a:ext cx="11185855" cy="60985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1">
                <a:solidFill>
                  <a:srgbClr val="334455"/>
                </a:solidFill>
                <a:latin typeface="맑은 고딕"/>
              </a:rPr>
              <a:t>판정 결론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— ✅ 5 + △ 1. 모든 질문이 가리키는 출처 파일이 답을 내므로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12개 산출물은 한 줄(전략→Pain→근본원인→과제정의→To-Be→KSF→일정)로 모순 없이 꿰인다.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#6의 △는 결함이 아니라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설계 깊이의 경계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(실측은 캠프 확정) — B-3 후속 작업으로 이월.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[11] 교차 정합성 스팟체크 + 마무리 (패키징·발표·피드백 루프)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질문-답 매핑 외에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파일 간 값이 서로 어긋나지 않는지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(불일치 = 설계 오류) 검산한다.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33727"/>
          <a:ext cx="11185854" cy="1697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검산 항목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대조 대상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기대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AI 수행 범위 ②~⑥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#06 적용범위 ↔ #08 🤖 레인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동일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사람 최종 승인 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#08 🧑 레인 ↔ #09 조직문화 선결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동일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운영 기준 θ/τ/r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#08 운영기준 ↔ #09 선결 ↔ #10 Test 프로토콜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같은 변수·정의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KSF 4관점 ↔ 일정 테마 레인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#09 4관점 ↔ #10 칸반 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1:1 정렬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placeholder 표기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전 파일 (τ/s/r/N·&lt;담당 임원&gt;)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지어낸 수치 없음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440807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B. 마무리 — 피드백 루프 (placeholder 확정 = △→✅ 후속 작업)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840094"/>
          <a:ext cx="11185852" cy="141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확정 대상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placeholder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확정 주체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반영 위치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Champion(담당 임원)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&lt;담당 임원&gt;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조직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#06 담당임원 필드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신뢰도·재정합 임계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θ, 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엔지니어(캠프)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#08 운영기준 · #09 선결 · #10 Test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As-Is/To-Be 소요시간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s, s′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실측(Phase 0~1)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#07 · #08 · #05 ROI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재시도 임계·처리량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r, 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엔지니어·파일럿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#08 · #05 수익성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364282"/>
            <a:ext cx="11185855" cy="60985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1">
                <a:solidFill>
                  <a:srgbClr val="334455"/>
                </a:solidFill>
                <a:latin typeface="맑은 고딕"/>
              </a:rPr>
              <a:t>패키징·발표·루프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— #00 README가 11산출물을 한 묶음으로 인덱싱(인덱스↔파일 일치=패키징 검증) / 각 산출물(표·플로우·칸반)을 1산출물=1~2장 장표로 변환(PPTX 호환).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업데이트 루프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: 캠프 피드백 → placeholder 입력 → 해당 #0N 수정 → #6 재검산 → #00 last_updated 갱신 ⇒ #6 △→✅.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