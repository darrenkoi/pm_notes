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스크립트: &lt;인사 + 우리 부서가 상반기 로드맵에서 맡은 AI Agent 과제를 한 문장으로 소개&gt;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스크립트: &lt;표를 훑으며 정상/지연 과제를 각각 한 마디로. 지연 과제는 사유를 담담하게&gt;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스크립트: &lt;As-Is의 아픔 → To-Be로 어떻게 풀었나 → 증거 수치 한 방&gt;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스크립트: &lt;가장 큰 리스크 하나 + 하반기에 반드시 넘길 마일스톤 하나로 마무리&gt;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스크립트: &lt;부록은 발표하지 않고, 질문 나올 때만 펼칩니다. 필요 시 한 줄 안내&gt;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표지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85854" cy="141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039"/>
                <a:gridCol w="8053815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부서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&lt;부서명&gt;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발표 임원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&lt;직책 / 성명&gt;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발표일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&lt;YYYY-MM-DD&gt;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리뷰 대상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2026 상반기 로드맵 이행 실적 · 하반기 추진 계획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상반기 로드맵 이행 총괄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85853" cy="1338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979"/>
                <a:gridCol w="1597979"/>
                <a:gridCol w="1597979"/>
                <a:gridCol w="1597979"/>
                <a:gridCol w="1597979"/>
                <a:gridCol w="1597979"/>
                <a:gridCol w="1597979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과제명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H1 계획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실적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이행도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미달 사유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하반기 목표 (H2 기준선)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&lt;과제 1&gt;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&lt;상반기 목표&gt;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&lt;실제 달성&gt;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&lt;%&gt;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&lt;🟢/🟡/🔴&gt;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&lt;미달 시 사유 / 달성이면 —&gt;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&lt;H2에 달성할 목표 — 측정 가능한 한 줄&gt;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&lt;과제 2&gt;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&lt;상반기 목표&gt;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&lt;실제 달성&gt;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&lt;%&gt;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&lt;🟢/🟡/🔴&gt;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&lt;—&gt;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&lt;H2 목표 한 줄&gt;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&lt;필요 시 행 추가&gt;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682429"/>
            <a:ext cx="11185855" cy="88734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이행도(%)는 자기평가입니다.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무엇을 100으로 봤는지(모수·단위)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를 미달 사유 칸이나 실적 칸에 한 조각 적어 주세요 — 예: "적용률 = 12개 라인 중 적용 수".</a:t>
            </a:r>
          </a:p>
          <a:p>
            <a:r>
              <a:rPr sz="1150" b="0">
                <a:solidFill>
                  <a:srgbClr val="334455"/>
                </a:solidFill>
                <a:latin typeface="맑은 고딕"/>
              </a:rPr>
              <a:t>과제명은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상반기 로드맵에 올린 이름 그대로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씁니다 (로드맵 과제 ID가 있으면 병기) — 로드맵과 대조해 보시기 때문입니다.</a:t>
            </a:r>
          </a:p>
          <a:p>
            <a:r>
              <a:rPr sz="1150" b="0">
                <a:solidFill>
                  <a:srgbClr val="334455"/>
                </a:solidFill>
                <a:latin typeface="맑은 고딕"/>
              </a:rPr>
              <a:t>"하반기 목표"는 방향이 아니라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목표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입니다 — 이 칸이 연말 리뷰에서 "H2 계획" 칸이 됩니다. 측정 가능하게 적으세요.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24642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총평 (부서 롤업):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&lt;N개 과제 · 🟢 M / 🟡 K / 🔴 L — 한 문장 판단&gt;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대표 과제 심화 — &lt;대표 과제명&gt;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한 줄 요약: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&lt;이 과제가 무엇을 자동화/개선하는가&gt;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33727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62626"/>
                </a:solidFill>
                <a:latin typeface="맑은 고딕"/>
              </a:rPr>
              <a:t>•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As-Is (도입 전):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&lt;기존 방식과 문제 — 수작업 의존, 병목 등&gt;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33014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62626"/>
                </a:solidFill>
                <a:latin typeface="맑은 고딕"/>
              </a:rPr>
              <a:t>•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To-Be (도입 후):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&lt;에이전트 적용 후 달라진 일하는 방식&gt;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32301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62626"/>
                </a:solidFill>
                <a:latin typeface="맑은 고딕"/>
              </a:rPr>
              <a:t>•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증거 (효과):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&lt;핵심 지표 전→후 + 임원 언어 환산 (예: 주 400건 → 0건 = 주 ○인시 절감). 기밀이면 상대 감소율. 미측정이면 &lt;측정 예정&gt;&gt;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1588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62626"/>
                </a:solidFill>
                <a:latin typeface="맑은 고딕"/>
              </a:rPr>
              <a:t>•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사용범위 (수용도):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&lt;실사용 범위·빈도·현업 피드백 중 1개 — 예: "3개 라인 적용·주 5회 사용"&gt;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30875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62626"/>
                </a:solidFill>
                <a:latin typeface="맑은 고딕"/>
              </a:rPr>
              <a:t>•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vs 계획: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&lt;상반기 계획 대비 지금 어디까지 — 예: "계획 PoC 완료, 상용 이관은 하반기"&gt;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이슈·리스크 · 하반기 중점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주요 이슈·리스크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(각 항목에 [통제가능] / [외부의존] 태그)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33727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62626"/>
                </a:solidFill>
                <a:latin typeface="맑은 고딕"/>
              </a:rPr>
              <a:t>• 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[통제가능] &lt;우리 부서가 조정 가능한 걸림돌 — 예: 데이터 품질, 재학습&gt;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33014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62626"/>
                </a:solidFill>
                <a:latin typeface="맑은 고딕"/>
              </a:rPr>
              <a:t>• 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[외부의존] &lt;타 부서 데이터·공통 인프라(LLM 서빙 등)·현장 승인 등 외부 요인&gt;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32301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하반기 중점 방향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(대표 1~2개만 마일스톤까지 — 과제별 H2 목표는 장표 2 마지막 컬럼이 기준선)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1588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62626"/>
                </a:solidFill>
                <a:latin typeface="맑은 고딕"/>
              </a:rPr>
              <a:t>• 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&lt;대표 과제&gt;: Q3 &lt;마일스톤&gt; → Q4 &lt;마일스톤&gt; / 완료 기준: &lt;무엇을 보면 됐다고 하나&gt;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30875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62626"/>
                </a:solidFill>
                <a:latin typeface="맑은 고딕"/>
              </a:rPr>
              <a:t>• 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&lt;나머지 과제는 장표 2의 H2 목표로 갈음, 특이사항만 한 줄&gt;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부록 (부서 재량)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ⓘ 부록은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부서 재량 공간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입니다. 아래 두 용도로 쓰고, 넣을 게 없으면 이 장 전체를 삭제하세요. 장 수가 늘면 부록 장을 여러 개로 쪼개도 됩니다(장표 5, 6 …).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21663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(1) 로드맵 수정 사항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상반기 로드맵을 실제로 고쳐야 하는 변경이 있을 때만.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020950"/>
          <a:ext cx="11185854" cy="565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변경 항목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변경 전 → 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사유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&lt;과제/목표/일정&gt;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&lt;기존 → 변경&gt;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&lt;왜 바꾸나 한 줄&gt;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2696462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(2) 그 밖의 보강 자료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본문(1~4장)에 다 못 담은 근거를 부서가 자유롭게 추가.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95749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62626"/>
                </a:solidFill>
                <a:latin typeface="맑은 고딕"/>
              </a:rPr>
              <a:t>• 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&lt;상세 지표·추가 화면 캡처·백업 데이터·용어 설명 등 필요한 것&gt;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95036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62626"/>
                </a:solidFill>
                <a:latin typeface="맑은 고딕"/>
              </a:rPr>
              <a:t>• 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&lt;ITC장 예상 질문에 대비한 근거 한두 개&gt;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