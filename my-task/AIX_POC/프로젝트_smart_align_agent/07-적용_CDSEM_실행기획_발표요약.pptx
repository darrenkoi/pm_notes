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"이 발표는 CD-SEM Recipe 셋업 자동화 과제를, 전략 정합성부터 1년 개발 일정까지 11단계로 끝까지 설계한 결과입니다. 핵심 메시지 하나 — 반복은 AI가, 예외 판단·최종 승인은 사람이 하는 Human-in-the-loop입니다."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"11단계는 컨설팅 4-Step(Discovery→Design→Validation→Execution)을 펼친 것입니다. 빠지기 쉬운 Validation은 05에, Execution은 10에 흡수했습니다. 모든 단계는 하나의 추적 사슬로 꿰여 있어, 한 칸이 비면 앞 단계로 돌아갑니다."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"첫 단계는 추적성입니다. 이 과제는 'R&amp;D 디바이스 개발 지연 최소화'라는 조직 목표에서 연역됐고, 일관 기준(Skew Zero)과 24h 무중단(가동률↑)으로 장비 운영/관리·검계측을 최적화합니다."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"AI를 모든 업무에 넣지 않습니다. 4개 영역 중 반복성·공수가 최대이고 데이터가 이미 있는 Recipe Creation을 1차로, 야간/주말 공백이 큰 Recipe 준수 모니터링을 차기로 정했습니다. 장비 운영/관리와 장비 개발·양산 이관은 물리 작업·외부 협력이라 범위 밖입니다."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"어느 단계를 자동화할지는 감이 아니라 점수로 정합니다. ①~⑦ 전 스텝을 같은 자로 재면 ⑥ 오인식 수정 반복이 최대 병목으로 떠오릅니다."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"Pain은 증상이지 원인이 아닙니다. 3-Why로 내려가면 모든 셋업 병목이 '패턴 인식 실패'와 '좌표 오류' 둘로 수렴하고, 그래서 해결책도 하나의 Agent로 묶입니다."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"발굴됐다고 착수해도 좋다는 뜻은 아닙니다. 7문항으로 점수화해 게이트를 통과시키고, 수익성·확장성 칸이 곧 ROI 검증입니다. 강점은 데이터가 이미 있고 PoC 설계가 잡혀 있다는 점입니다."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"흩어진 Discovery 결과를 한 장으로 모았습니다. AI가 하는 일은 ②~⑥로 한정되고, 의뢰서 검토와 최종 승인은 사람이 합니다. 정의서의 모든 칸은 앞 단계에서 상속돼 추적성이 끊기지 않습니다."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"현재는 일곱 단계 모두 사람이 합니다. 특히 ⑥은 시험측정과 수정을 통과할 때까지 반복해서, 셋업 시간을 가장 많이 잡아먹습니다."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"To-Be의 핵심 변화는 ②~⑥이 사람에서 VLM으로 넘어가는 것입니다. 단, θ·τ·r이라는 운영 기준 안에서만 자동이고, 벗어나면 즉시 사람에게 넘깁니다. 모델은 전부 사내 LLM을 씁니다."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"설계가 좋아도 선결 조건이 안 되면 무너집니다. 가장 먼저 깨질 곳은 좌표 재정합 정확도라서, 이걸 1순위로 PoC에서 단독 검증합니다. 장비를 직접 제어하므로 인터록·롤백·감사 로그를 필수로 박았습니다."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"1년 안에 끝내는 일정입니다. 핵심은 Q1 말 G0 게이트 — 좌표 재정합이 기준을 못 넘으면 GUI 개발에 돈을 쓰기 전에 과제를 재설계합니다. 먼저 깨질 곳을 먼저 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"마지막은 검산입니다. 6개 질문 중 5개가 ✅, 가치 정량화만 △인데 이건 결함이 아니라 의도된 경계입니다 — 실측은 캠프에서 채웁니다. 모든 산출물이 한 줄로 꿰이는 것을 확인했습니다."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"설계는 끝났습니다. 남은 건 캠프에서 placeholder를 실측값으로 채우는 것입니다. 부탁드릴 것은 세 가지 — 담당 임원 지정, Q1 PoC 착수 승인, 워크스트림 리드 5인입니다."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표지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4168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1F497D"/>
                </a:solidFill>
                <a:latin typeface="맑은 고딕"/>
              </a:rPr>
              <a:t>CD-SEM Auto Recipe Creation</a:t>
            </a:r>
            <a:r>
              <a:rPr sz="1500" b="1">
                <a:solidFill>
                  <a:srgbClr val="1F497D"/>
                </a:solidFill>
                <a:latin typeface="맑은 고딕"/>
              </a:rPr>
              <a:t> — 실행기획 11단계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06118"/>
            <a:ext cx="11185855" cy="332359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0">
                <a:solidFill>
                  <a:srgbClr val="334455"/>
                </a:solidFill>
                <a:latin typeface="맑은 고딕"/>
              </a:rPr>
              <a:t>VLM이 SEM 화면을 직접 보며 GUI를 제어해 Recipe를 만들고, 실측 시 발생하는 좌표 shift·패턴 오인식을 실시간 재정합한다. </a:t>
            </a:r>
            <a:r>
              <a:rPr sz="1150" b="1">
                <a:solidFill>
                  <a:srgbClr val="334455"/>
                </a:solidFill>
                <a:latin typeface="맑은 고딕"/>
              </a:rPr>
              <a:t>완전자동화가 아닌 Human-in-the-loop.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093341"/>
          <a:ext cx="11185854" cy="113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039"/>
                <a:gridCol w="8053815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1F497D"/>
                          </a:solidFill>
                          <a:latin typeface="맑은 고딕"/>
                        </a:rPr>
                        <a:t>구분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■ Production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담당 조직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ITC AIX / MI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Champion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&lt;담당 임원&gt;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목표 시점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내년(2027) 실행 가능 기획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한눈에 보는 흐름 (4-Step × 11단계)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85855" cy="1140714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900">
                <a:solidFill>
                  <a:srgbClr val="262626"/>
                </a:solidFill>
                <a:latin typeface="Consolas"/>
              </a:rPr>
              <a:t>Discovery (기회 발굴)            Design (실행 구체화)         Execution   Review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01 전략일관성                   06 AI 과제 정의서(1매)        10 개발일정  11 전체검산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02 대상 업무영역 ★              07 As-Is 프로세스             (+로드맵)    ·발표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03 Pain 정량화                  08 To-Be 프로세스 ★                       ·피드백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04 근본원인 3-Why → 해결         09 KSF · 제약 ★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05 적정성 + 가치검증(Validation)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84882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62626"/>
                </a:solidFill>
                <a:latin typeface="맑은 고딕"/>
              </a:rPr>
              <a:t>관통하는 추적 사슬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 — 한 칸이라도 비면 앞 단계가 부실하다는 신호: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884169"/>
          <a:ext cx="11185854" cy="5657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1864309"/>
                <a:gridCol w="1864309"/>
                <a:gridCol w="1864309"/>
                <a:gridCol w="1864309"/>
                <a:gridCol w="1864309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02 AI대체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→ 06 과제정의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→ 08 To-Be 🤖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→ 09 KSF#1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→ 10 Q1 게이트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→ 11 점검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L3② ②~⑥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주어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🤖 레인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좌표 재정합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PoC G0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✅ 검산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STEP 01 · 전략 일관성 (조직목표 → AI후보 Top-Down)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62626"/>
                </a:solidFill>
                <a:latin typeface="맑은 고딕"/>
              </a:rPr>
              <a:t>과제가 개인 흥미가 아니라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조직 목표에서 위→아래로 연역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된 결과임을 1장으로 증명한다.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33727"/>
          <a:ext cx="11185852" cy="118586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3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L0 조직 목표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L1 업무 목표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L2 관련(핵심) 업무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L3 AI 후보 과제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902970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R&amp;D 디바이스 개발 지연 최소화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① 검/계측 효율화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② 장비 운영/관리 최적화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③ 장비 개발·도입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① MI Recipe Solution 제공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② 측정 장비 간 Skew Zero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③ MI 장비 가동률 극대화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④ 장비 개발·도입 및 양산 이관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Auto Recipe Creation</a:t>
                      </a:r>
                    </a:p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(1차 PoC = Align fail 대응 자동화)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2929317"/>
            <a:ext cx="11185855" cy="60985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1">
                <a:solidFill>
                  <a:srgbClr val="334455"/>
                </a:solidFill>
                <a:latin typeface="맑은 고딕"/>
              </a:rPr>
              <a:t>판정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: L3 과제(Auto Recipe Creation)가 핵심업무 ①~③→L1→L0로 끊김 없이 거슬러 올라감 → </a:t>
            </a:r>
            <a:r>
              <a:rPr sz="1150" b="1">
                <a:solidFill>
                  <a:srgbClr val="334455"/>
                </a:solidFill>
                <a:latin typeface="맑은 고딕"/>
              </a:rPr>
              <a:t>전략적으로 정합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. 후보 과제는 하나이며, </a:t>
            </a:r>
            <a:r>
              <a:rPr sz="1150" b="1">
                <a:solidFill>
                  <a:srgbClr val="334455"/>
                </a:solidFill>
                <a:latin typeface="맑은 고딕"/>
              </a:rPr>
              <a:t>하나의 VLM Agent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(②~⑥ 연속)가 수행하되 ⑥(Align fail 대응 자동화 = Smart Align Agent)을 1차 PoC로 둔다. (핵심업무 ④ 장비 개발·양산 이관은 업무 목표 ③ 추적용으로 ARC 범위 밖.)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STEP 02 · 대상 업무영역 (L2×L3 + AI 대체 판정)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6339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62626"/>
                </a:solidFill>
                <a:latin typeface="맑은 고딕"/>
              </a:rPr>
              <a:t>계측(MI) 운영을 L2 4분할로 펼치고 각 L3에 AI 대체 판정을 오버레이 →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1차 대상을 좁힌다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. (L2 4분할 = 엔지니어 확정 2026-06-24 → R&amp;D 컨텍스트 재확정 2026-06-29: 구 "측정 실행(양산 Run)" 삭제, "장비 개발 &amp; 양산 이관" 신설)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23287"/>
          <a:ext cx="11185852" cy="162115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3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L2 영역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대표 L3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결정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48958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A. Recipe Management 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② </a:t>
                      </a:r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Recipe Creation</a:t>
                      </a:r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 (셋업 ②~⑥)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1차 PoC 대상</a:t>
                      </a:r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 — 반복·정형·공수 최대 + SEM 데이터 가용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B. 장비 운영/관리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① BM/PM · ③ 캘리브레이션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물리 보전 — 범위 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C. 계측 데이터·모니터링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① Recipe 준수 모니터링 ◇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차기(2차) 대상</a:t>
                      </a:r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 — 운영 공백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D. 장비 개발 &amp; 양산 이관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② 장비 개발(BP社) · ④ 양산 이관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🧑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외부 협력·이관 행정 — 범위 밖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654168"/>
            <a:ext cx="11185855" cy="60985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0">
                <a:solidFill>
                  <a:srgbClr val="334455"/>
                </a:solidFill>
                <a:latin typeface="맑은 고딕"/>
              </a:rPr>
              <a:t>범례 🤖 AI대체 · 🤝 부분(HITL) · 🧑 사람 · ⚙️ 기존 자동 // </a:t>
            </a:r>
            <a:r>
              <a:rPr sz="1150" b="1">
                <a:solidFill>
                  <a:srgbClr val="334455"/>
                </a:solidFill>
                <a:latin typeface="맑은 고딕"/>
              </a:rPr>
              <a:t>모든 칸에 AI를 넣지 않는다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 — 반복성·정형성·공수·데이터 가용성이 큰 지점만 선별. ※ 양산은 R&amp;D 운영 대상이 아니라 개발 완료품을 양산으로 넘기는 별도 이관 업무(D 영역).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STEP 03 · Pain Point 정량화 (L4 ①~⑦)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62626"/>
                </a:solidFill>
                <a:latin typeface="맑은 고딕"/>
              </a:rPr>
              <a:t>1차 대상 Recipe Creation을 As-Is 셋업 ①~⑦(L4)로 분해하고,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빈도·심각성·주요성 3축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으로 점수화. (점수는 τ placeholder, ⑥만 가설 5/5/5)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33727"/>
          <a:ext cx="11185855" cy="20345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171"/>
                <a:gridCol w="2237171"/>
                <a:gridCol w="2237171"/>
                <a:gridCol w="2237171"/>
                <a:gridCol w="2237171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L4 활동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Pain Point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빈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심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③ Align 등록 (병목)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패턴 인식 템플릿 수동·숙련 의존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④ 좌표·박스 (병목)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EP 좌표·측정박스 수동·숙련 의존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696277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⑥ 시험측정→오인식 수정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공정 variation 이미지 차이로 오측·align 실패·오인식 → </a:t>
                      </a:r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반복</a:t>
                      </a:r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 수정 (</a:t>
                      </a:r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Recipe Mgmt 최대 병목</a:t>
                      </a:r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8958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⑦ 저장·검증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검증 누락 시 오류가 후속 측정·양산 이관 후로 전파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77993"/>
            <a:ext cx="11185855" cy="60985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1">
                <a:solidFill>
                  <a:srgbClr val="334455"/>
                </a:solidFill>
                <a:latin typeface="맑은 고딕"/>
              </a:rPr>
              <a:t>무게중심 = ⑥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. Recipe Setup 후 공정 variation으로 실측 이미지가 달라지는 한 상시 재발(빈도)하고 오측·재셋업으로 직결되며(심각성) 리드타임의 지배적 비중(주요성). 이 점수가 #05 적정성·#10 기대효과의 백데이터.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STEP 04 · 근본원인 (3-Why) → 해결 아이디어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62626"/>
                </a:solidFill>
                <a:latin typeface="맑은 고딕"/>
              </a:rPr>
              <a:t>⑥ 최대 병목을 "왜?"로 세 번 파고들면 셋업 병목이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두 근본원인으로 수렴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33727"/>
            <a:ext cx="11185855" cy="809244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900">
                <a:solidFill>
                  <a:srgbClr val="262626"/>
                </a:solidFill>
                <a:latin typeface="Consolas"/>
              </a:rPr>
              <a:t>⑥ 오인식 수정 반복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└ 왜? 미리 만든 템플릿·좌표가 실측 시 안 맞는다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   └ 왜? 실측 시작 시 전체 좌표가 shift / align 실패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      └ 왜? (a) 패턴 인식 실패   (b) 측정박스·좌표 오류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552699"/>
          <a:ext cx="11185854" cy="848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Pain (L4)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해결 아이디어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수렴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⑥ 오인식 수정 반복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VLM이 SEM 이미지로 </a:t>
                      </a:r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실시간 좌표 재정합·오인식 자동 수정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(a)(b)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③④ 패턴·좌표 설정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VLM이 일관 기준으로 등록 (⑥과 </a:t>
                      </a:r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같은 Agent</a:t>
                      </a:r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(a)(b)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511103"/>
            <a:ext cx="11185855" cy="332359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0">
                <a:solidFill>
                  <a:srgbClr val="334455"/>
                </a:solidFill>
                <a:latin typeface="맑은 고딕"/>
              </a:rPr>
              <a:t>셋업 병목 해결책이 전부 (a)(b)로 수렴 → 별개 기능이 아니라 </a:t>
            </a:r>
            <a:r>
              <a:rPr sz="1150" b="1">
                <a:solidFill>
                  <a:srgbClr val="334455"/>
                </a:solidFill>
                <a:latin typeface="맑은 고딕"/>
              </a:rPr>
              <a:t>단일 VLM 재정합 Agent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(②~⑥). (a)(b)는 #09 KSF#1·05 PoC가 검증할 리스크가 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STEP 05 · 과제 적정성 + 가치검증 (Validation 흡수)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62626"/>
                </a:solidFill>
                <a:latin typeface="맑은 고딕"/>
              </a:rPr>
              <a:t>7문항 × 1~3점 스코어카드로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착수 게이트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를 통과시킨다. 비즈니스 성과 칸이 Validation(ROI)을 흡수.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33727"/>
          <a:ext cx="11185854" cy="113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카테고리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문항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점수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전략적 중요도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본원 경쟁력 · KPI 연계성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3 ·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비즈니스 성과 (Validation)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수익성(ROI) · 확장성 · 시급성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τ · τ · 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실행 용이성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데이터 준비(강점) · PoC 존재(강점)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3 · 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2875023"/>
            <a:ext cx="11185855" cy="643509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900">
                <a:solidFill>
                  <a:srgbClr val="262626"/>
                </a:solidFill>
                <a:latin typeface="Consolas"/>
              </a:rPr>
              <a:t>Σ = (3+3) + (τ₃+τ₄+τ₅) + (3+3) = 12 + Σ_B(τ) / 21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ROI = ΔS × N,   ΔS = s − s′  (⑥ 절감이 대부분),   s·s′·N = placeholder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착수 게이트: Σ ≥ τ_gate → #10 Execution 착수, 미달 시 재설계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628260"/>
            <a:ext cx="11185855" cy="332359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1">
                <a:solidFill>
                  <a:srgbClr val="334455"/>
                </a:solidFill>
                <a:latin typeface="맑은 고딕"/>
              </a:rPr>
              <a:t>12점은 가설 확정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(전략 직결 + 데이터 강점 + PoC 존재), 나머지 비즈니스 성과 3문항이 캠프 확정 몫. 별도 Validation 문서 없이 스코어카드 안에 ROI를 박았다.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STEP 06 · AI 과제 정의서 (1매)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62626"/>
                </a:solidFill>
                <a:latin typeface="맑은 고딕"/>
              </a:rPr>
              <a:t>Discovery 5단계 결과를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한 장으로 압축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. 각 칸이 앞 단계에서 상속된다(추적성 도착지).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33727"/>
          <a:ext cx="11185854" cy="260032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정의서 칸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내용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상속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업무 목표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검/계측 효율화 · 장비 운영/관리 최적화 · 장비 개발·도입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#01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8958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관련(핵심) 업무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MI Recipe Solution 제공 · 측정 장비 간 Skew Zero · MI 장비 가동률 극대화 · 장비 개발·도입 및 양산 이관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#01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핵심 업무 구조화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계측&gt;Recipe Management&gt;Recipe Creation (①~⑦)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#02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89585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추진 배경(Pain)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⑥ 공정 variation 이미지 차이 → 오측·인식 실패 반복 수정 = Recipe Mgmt 최대 병목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#03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근본원인(Big Why)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(a) 패턴 인식 실패 · (b) 좌표 오류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#04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89585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AI Agent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대상 </a:t>
                      </a:r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②~⑥</a:t>
                      </a:r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 / SEM 판독 + GUI 제어 + 실시간 재정합 / ref layer 우선 확장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#03·#04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4343778"/>
            <a:ext cx="11185855" cy="332359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1">
                <a:solidFill>
                  <a:srgbClr val="334455"/>
                </a:solidFill>
                <a:latin typeface="맑은 고딕"/>
              </a:rPr>
              <a:t>HITL 박제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: AI는 ②~⑥만. ①(부족정보 플래깅)·⑦(최종 검증·승인)·임계 초과 예외는 사람. 적정성 점수 Σ/21은 정의서를 써도 되는지 판정하는 </a:t>
            </a:r>
            <a:r>
              <a:rPr sz="1150" b="1">
                <a:solidFill>
                  <a:srgbClr val="334455"/>
                </a:solidFill>
                <a:latin typeface="맑은 고딕"/>
              </a:rPr>
              <a:t>착수 게이트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STEP 07 · As-Is 프로세스 (현재 — 전부 사람)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62626"/>
                </a:solidFill>
                <a:latin typeface="맑은 고딕"/>
              </a:rPr>
              <a:t>셋업 ①~⑦ 전 구간이 🧑 사람 수작업. ⑥에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반복 루프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가 걸려 소요시간을 지배한다.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33727"/>
            <a:ext cx="11185855" cy="643509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900">
                <a:solidFill>
                  <a:srgbClr val="262626"/>
                </a:solidFill>
                <a:latin typeface="Consolas"/>
              </a:rPr>
              <a:t>🧑①확인 → 🧑②생성·로드 → 🧑③패턴등록◀병목 → 🧑④좌표·박스◀병목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       → 🧑⑤이미징 → 🧑⑥시험측정→오인식수정 ◀최대병목 → 🧑⑦저장·검증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                         │ 통과 미달 → 수정 후 재측정 ↺ 반복 루프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386964"/>
          <a:ext cx="11185854" cy="1414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소요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시스템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③ 패턴 등록 (병목)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s₃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CD-SEM GUI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④ 좌표·박스 (병목)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s₄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CD-SEM GUI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⑥ 시험측정·오인식 수정 (최대)</a:t>
                      </a:r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s₆ (최대)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CD-SEM GUI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합계 (1건당 리드타임)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ΣS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3911152"/>
            <a:ext cx="11185855" cy="332359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0">
                <a:solidFill>
                  <a:srgbClr val="334455"/>
                </a:solidFill>
                <a:latin typeface="맑은 고딕"/>
              </a:rPr>
              <a:t>소요시간 s₁..s₇는 실측 전 placeholder. ⑥ 반복 루프가 s₆를 최대로 만들며, 이 컬럼이 #08 before 값·#05 ROI의 ΔS·#10 기대효과의 근거가 된다.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STEP 08 · To-Be 프로세스 (🤖/🧑 레인)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62626"/>
                </a:solidFill>
                <a:latin typeface="맑은 고딕"/>
              </a:rPr>
              <a:t>같은 ①~⑦ 축에서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②~⑥을 VLM(🤖)이 연속 수행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, ①·⑦은 사람, 임계 초과 예외만 핸드오프.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633727"/>
            <a:ext cx="11185855" cy="1140714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900">
                <a:solidFill>
                  <a:srgbClr val="262626"/>
                </a:solidFill>
                <a:latin typeface="Consolas"/>
              </a:rPr>
              <a:t>🧑①        ┌──── 🤖 AI Agent (VLM, computer-use) ────┐        🧑⑦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의뢰서      │ ②생성 ▶③패턴 ▶④좌표 ▶⑤이미징 ▶⑥실시간 │        최종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플래깅      │ VLM이 SEM 화면 판독 + GUI 직접 제어,      │ ─게이트▶ 검증·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           │ ⑥에서 좌표 shift·오인식 실시간 재정합     │        승인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           └──────────────┬───────────────────────────┘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             예외(θ·τ 미달 / 재시도 r 초과) → 🧑 엔지니어 핸드오프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884169"/>
          <a:ext cx="11185854" cy="113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단계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적용 AI 기술 (사내 LLM)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운영 기준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②~⑤ GUI 제어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Qwen3-VL</a:t>
                      </a:r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 computer-use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화면매칭 θ 이상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⑥ 재정합 (구 최대병목)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Qwen3-VL-30B</a:t>
                      </a:r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 정밀 비전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정확도 τ + 재시도 r 이내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⑦ 승인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사람 + VLM 자가점검 리포트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승인 게이트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4125465"/>
            <a:ext cx="11185855" cy="332359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0">
                <a:solidFill>
                  <a:srgbClr val="334455"/>
                </a:solidFill>
                <a:latin typeface="맑은 고딕"/>
              </a:rPr>
              <a:t>외부 LLM API 미사용 — 전부 사내 엔드포인트(Kimi-K2.5·Qwen3-VL-8B/30B·BGE-M3). 운영 기준 θ/τ/r은 #09 KSF·05 PoC와 </a:t>
            </a:r>
            <a:r>
              <a:rPr sz="1150" b="1">
                <a:solidFill>
                  <a:srgbClr val="334455"/>
                </a:solidFill>
                <a:latin typeface="맑은 고딕"/>
              </a:rPr>
              <a:t>같은 기호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STEP 09 · KSF · 제약 (4관점)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62626"/>
                </a:solidFill>
                <a:latin typeface="맑은 고딕"/>
              </a:rPr>
              <a:t>To-Be가 작동하려면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선결돼야 할 조건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을 4관점으로 박제.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33727"/>
          <a:ext cx="11185854" cy="1414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관점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핵심 성공요소(KSF)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선결 조건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업무 프로세스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②~⑥ 연속 + 예외 핸드오프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임계 τ·재시도 r + ⑦ 승인 게이트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SEM 이미지·ref·라벨 충분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숙련자 라벨 + 스크린샷→VLM 추출(99% DRM)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시스템·인프라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GUI 자동제어 안정 + 자원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사내 Qwen3-VL 엔드포인트·GPU·섀도우·인터록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조직 문화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엔지니어 신뢰·현장 수용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⑦ 사람 최종승인 유지</a:t>
                      </a:r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 + 단계적 도입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157915"/>
            <a:ext cx="11185855" cy="477774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900">
                <a:solidFill>
                  <a:srgbClr val="262626"/>
                </a:solidFill>
                <a:latin typeface="Consolas"/>
              </a:rPr>
              <a:t>선결 우선순위:  #1 좌표 재정합 정확도 (= Phase0 PoC, 최대 리스크)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           → #2 GUI 자동제어 안정 → #3 핸드오프 기준(τ/r) → #4 신뢰·수용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745417"/>
            <a:ext cx="11185855" cy="332359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0">
                <a:solidFill>
                  <a:srgbClr val="334455"/>
                </a:solidFill>
                <a:latin typeface="맑은 고딕"/>
              </a:rPr>
              <a:t>⚠️ 장비 직접 제어 과제 → </a:t>
            </a:r>
            <a:r>
              <a:rPr sz="1150" b="1">
                <a:solidFill>
                  <a:srgbClr val="334455"/>
                </a:solidFill>
                <a:latin typeface="맑은 고딕"/>
              </a:rPr>
              <a:t>안전 인터록·롤백 / 사고 책임소재 / 보안 승인·감사 로그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 필수. 장애 요인 컬럼은 #10 리스크 게이트(🚦)의 입력.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STEP 10 · 개발 일정 (1년 분기 칸반 + 게이트)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62626"/>
                </a:solidFill>
                <a:latin typeface="맑은 고딕"/>
              </a:rPr>
              <a:t>KSF 우선순위를 분기 칸반으로 환산하고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분기말 Stage-Gate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로 자원 투입을 통제.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33727"/>
          <a:ext cx="11185855" cy="1414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7171"/>
                <a:gridCol w="2237171"/>
                <a:gridCol w="2237171"/>
                <a:gridCol w="2237171"/>
                <a:gridCol w="2237171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테마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Q1 PoC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Q2 단일 layer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Q3 ⑥ 본격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Q4 확장·이관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프로세스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θ/τ/r 정의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②~⑤ 구현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⑥ 루프 + 핸드오프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운영 이관·SOP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데이터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라벨·hard set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추출 파이프라인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피드백 반영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재학습셋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AI 모델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재정합 PoC(8B vs 30B)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computer-use 통합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30B 정밀+룰엔진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일반화·경량화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Test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섀도우·프로토콜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E2E 오프라인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수용 게이트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파일럿(실장비)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157915"/>
            <a:ext cx="11185855" cy="809244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900">
                <a:solidFill>
                  <a:srgbClr val="262626"/>
                </a:solidFill>
                <a:latin typeface="Consolas"/>
              </a:rPr>
              <a:t>🚦 G0 (Q1말, Stage-Gate): 재정합 P95 오차 ≤ τ AND recall ≥ r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    통과→Q2 GUI 통합 │ 미달→과제 재설계 (자원 투입 전 중단, No-Regret)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👤 변화관리(전 구간 상시): 운영팀 협업 · 엔지니어 신뢰 · HITL 승인 UI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Kill 기준: 게이트 재설계 누적 2회 초과 → 과제 중단 (좀비 과제 방지)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076887"/>
            <a:ext cx="11185855" cy="332359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0">
                <a:solidFill>
                  <a:srgbClr val="334455"/>
                </a:solidFill>
                <a:latin typeface="맑은 고딕"/>
              </a:rPr>
              <a:t>테마 레인 = #09 KSF 4관점과 1:1 정렬 → 일정이 성공조건을 빠짐없이 덮는다. 소요·인력은 placeholder.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STEP 11 · Review (전체 설계 검산)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234440"/>
            <a:ext cx="11185855" cy="3444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62626"/>
                </a:solidFill>
                <a:latin typeface="맑은 고딕"/>
              </a:rPr>
              <a:t>11개 산출물을 새로 쓰지 않고 </a:t>
            </a:r>
            <a:r>
              <a:rPr sz="1200" b="1">
                <a:solidFill>
                  <a:srgbClr val="262626"/>
                </a:solidFill>
                <a:latin typeface="맑은 고딕"/>
              </a:rPr>
              <a:t>6개 점검 질문으로 검산</a:t>
            </a:r>
            <a:r>
              <a:rPr sz="1200" b="0">
                <a:solidFill>
                  <a:srgbClr val="262626"/>
                </a:solidFill>
                <a:latin typeface="맑은 고딕"/>
              </a:rPr>
              <a:t>한다. 판정이 △/✗면 그 출처 파일을 보강하라는 신호.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633727"/>
          <a:ext cx="11185852" cy="19802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96463"/>
                <a:gridCol w="2796463"/>
                <a:gridCol w="2796463"/>
                <a:gridCol w="2796463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#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점검 질문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판정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답하는 산출물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AI·사람 역할이 명확한가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#08 Swimlane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2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최대 병목을 개선하는가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#03→#07→#08 (⑥)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제약을 다각도로 보는가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#09 4관점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KSF가 선결조건 위주인가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#09 우선순위 #1~#4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전략에서 연역됐는가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#01 ↔ #06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가치가 정량화됐는가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1">
                          <a:solidFill>
                            <a:srgbClr val="262626"/>
                          </a:solidFill>
                          <a:latin typeface="맑은 고딕"/>
                        </a:rPr>
                        <a:t>△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#05 ROI 구조는 OK, 값은 placeholder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723699"/>
            <a:ext cx="11185855" cy="332359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1">
                <a:solidFill>
                  <a:srgbClr val="334455"/>
                </a:solidFill>
                <a:latin typeface="맑은 고딕"/>
              </a:rPr>
              <a:t>△는 결함이 아니라 설계 깊이의 경계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 — "내년 실행 가능 기획"까지가 범위, 실측 수치는 캠프 확정 몫. 12개 산출물이 전략→Pain→근본원인→정의→To-Be→KSF→일정 한 줄로 모순 없이 꿰인다.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F497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271455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497D"/>
                </a:solidFill>
                <a:latin typeface="맑은 고딕"/>
              </a:rPr>
              <a:t>마무리 — 다음 단계 (Ask)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320040"/>
            <a:ext cx="7315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34440"/>
            <a:ext cx="11185855" cy="477774"/>
          </a:xfrm>
          <a:prstGeom prst="rect">
            <a:avLst/>
          </a:prstGeom>
          <a:solidFill>
            <a:srgbClr val="F2F4F7"/>
          </a:solidFill>
          <a:ln w="6350">
            <a:solidFill>
              <a:srgbClr val="CFD6DF"/>
            </a:solidFill>
          </a:ln>
        </p:spPr>
        <p:txBody>
          <a:bodyPr wrap="none" lIns="109728" tIns="54864" bIns="54864">
            <a:spAutoFit/>
          </a:bodyPr>
          <a:lstStyle/>
          <a:p>
            <a:r>
              <a:rPr sz="900">
                <a:solidFill>
                  <a:srgbClr val="262626"/>
                </a:solidFill>
                <a:latin typeface="Consolas"/>
              </a:rPr>
              <a:t>현재   :  내년 실행 가능한 11단계 기획 = 완성 (설계·계획 수준)</a:t>
            </a:r>
          </a:p>
          <a:p>
            <a:r>
              <a:rPr sz="900">
                <a:solidFill>
                  <a:srgbClr val="262626"/>
                </a:solidFill>
                <a:latin typeface="Consolas"/>
              </a:rPr>
              <a:t>남은 것:  placeholder 확정만 — τ/s/r/N · &lt;담당 임원&gt;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821942"/>
          <a:ext cx="11185854" cy="14144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28618"/>
                <a:gridCol w="3728618"/>
                <a:gridCol w="3728618"/>
              </a:tblGrid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확정 대상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placeholder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1">
                          <a:solidFill>
                            <a:srgbClr val="1F497D"/>
                          </a:solidFill>
                          <a:latin typeface="맑은 고딕"/>
                        </a:rPr>
                        <a:t>확정 주체</a:t>
                      </a:r>
                    </a:p>
                  </a:txBody>
                  <a:tcPr marL="54864" marR="54864" marT="18288" marB="18288" anchor="ctr">
                    <a:solidFill>
                      <a:srgbClr val="DCE6F1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Champion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&lt;담당 임원&gt;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조직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정확도·재정합 임계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τ, θ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엔지니어(캠프)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소요시간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s, s′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실측(Phase 0~1)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282892"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재시도·처리량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r, 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50" b="0">
                          <a:solidFill>
                            <a:srgbClr val="262626"/>
                          </a:solidFill>
                          <a:latin typeface="맑은 고딕"/>
                        </a:rPr>
                        <a:t>엔지니어·파일럿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3346130"/>
            <a:ext cx="11185855" cy="609854"/>
          </a:xfrm>
          <a:prstGeom prst="rect">
            <a:avLst/>
          </a:prstGeom>
          <a:solidFill>
            <a:srgbClr val="F7F9FB"/>
          </a:solidFill>
          <a:ln w="12700">
            <a:solidFill>
              <a:srgbClr val="DCE6F1"/>
            </a:solidFill>
          </a:ln>
        </p:spPr>
        <p:txBody>
          <a:bodyPr wrap="square" lIns="109728">
            <a:spAutoFit/>
          </a:bodyPr>
          <a:lstStyle/>
          <a:p>
            <a:r>
              <a:rPr sz="1150" b="1">
                <a:solidFill>
                  <a:srgbClr val="334455"/>
                </a:solidFill>
                <a:latin typeface="맑은 고딕"/>
              </a:rPr>
              <a:t>Ask</a:t>
            </a:r>
            <a:r>
              <a:rPr sz="1150" b="0">
                <a:solidFill>
                  <a:srgbClr val="334455"/>
                </a:solidFill>
                <a:latin typeface="맑은 고딕"/>
              </a:rPr>
              <a:t> — ① Champion(담당 임원) 지정 ② Q1 Phase0 PoC 착수 승인 ③ 워크스트림 리드 5인 지정. 값이 채워지면 #05 ROI·#10 기대효과가 가설→실측 근거로 전환되고 Review #6이 △→✅.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