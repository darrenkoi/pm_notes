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firstSlideNum="0" strictFirstAndLastChars="0" saveSubsetFonts="1" showSpecialPlsOnTitleSld="0">
  <p:sldMasterIdLst>
    <p:sldMasterId id="2147483648" r:id="rId5"/>
    <p:sldMasterId id="214748365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6858000" cx="9906000"/>
  <p:notesSz cx="6735750" cy="98663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17">
          <p15:clr>
            <a:srgbClr val="A4A3A4"/>
          </p15:clr>
        </p15:guide>
        <p15:guide id="2" pos="6068">
          <p15:clr>
            <a:srgbClr val="A4A3A4"/>
          </p15:clr>
        </p15:guide>
        <p15:guide id="3" orient="horz" pos="2409">
          <p15:clr>
            <a:srgbClr val="A4A3A4"/>
          </p15:clr>
        </p15:guide>
        <p15:guide id="4" orient="horz" pos="709">
          <p15:clr>
            <a:srgbClr val="A4A3A4"/>
          </p15:clr>
        </p15:guide>
        <p15:guide id="5" orient="horz" pos="1389">
          <p15:clr>
            <a:srgbClr val="A4A3A4"/>
          </p15:clr>
        </p15:guide>
        <p15:guide id="6" orient="horz" pos="414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hHUt68kbwzKSozVJ+mCPqgXaii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8BAB03-6B21-42F1-9DD4-E3E6314A7C85}">
  <a:tblStyle styleId="{F58BAB03-6B21-42F1-9DD4-E3E6314A7C8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4D358D2-6C71-4418-A4F1-CD2C1D065E0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DE31DEC-47AB-4188-82B7-72444735313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7"/>
        <p:guide pos="6068"/>
        <p:guide pos="2409" orient="horz"/>
        <p:guide pos="709" orient="horz"/>
        <p:guide pos="1389" orient="horz"/>
        <p:guide pos="41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customschemas.google.com/relationships/presentationmetadata" Target="metadata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6" y="17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5375" y="17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6" y="9371302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anchorCtr="0" anchor="b" bIns="45250" lIns="90475" spcFirstLastPara="1" rIns="90475" wrap="square" tIns="452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5375" y="9371302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anchorCtr="0" anchor="b" bIns="45250" lIns="90475" spcFirstLastPara="1" rIns="90475" wrap="square" tIns="452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>
        <p15:guide id="1" orient="horz" pos="3107">
          <p15:clr>
            <a:srgbClr val="F26B43"/>
          </p15:clr>
        </p15:guide>
        <p15:guide id="2" pos="212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2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32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7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37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0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0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8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8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2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62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0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70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5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75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3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83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9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89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0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90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0:notes"/>
          <p:cNvSpPr txBox="1"/>
          <p:nvPr>
            <p:ph idx="1" type="body"/>
          </p:nvPr>
        </p:nvSpPr>
        <p:spPr>
          <a:xfrm>
            <a:off x="673577" y="4686499"/>
            <a:ext cx="5388600" cy="4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20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2a51cd512_0_1:notes"/>
          <p:cNvSpPr txBox="1"/>
          <p:nvPr>
            <p:ph idx="1" type="body"/>
          </p:nvPr>
        </p:nvSpPr>
        <p:spPr>
          <a:xfrm>
            <a:off x="673577" y="4686499"/>
            <a:ext cx="5388600" cy="4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3e2a51cd512_0_1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2a51cd512_0_8:notes"/>
          <p:cNvSpPr txBox="1"/>
          <p:nvPr>
            <p:ph idx="1" type="body"/>
          </p:nvPr>
        </p:nvSpPr>
        <p:spPr>
          <a:xfrm>
            <a:off x="673577" y="4686499"/>
            <a:ext cx="5388600" cy="4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e2a51cd512_0_8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4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24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0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30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1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31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4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34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0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40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1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41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2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42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2a51cd512_0_26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e2a51cd512_0_26:notes"/>
          <p:cNvSpPr txBox="1"/>
          <p:nvPr>
            <p:ph idx="1" type="body"/>
          </p:nvPr>
        </p:nvSpPr>
        <p:spPr>
          <a:xfrm>
            <a:off x="673577" y="4686499"/>
            <a:ext cx="5388600" cy="4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8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148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52:notes"/>
          <p:cNvSpPr/>
          <p:nvPr>
            <p:ph idx="2" type="sldImg"/>
          </p:nvPr>
        </p:nvSpPr>
        <p:spPr>
          <a:xfrm>
            <a:off x="698500" y="741363"/>
            <a:ext cx="5338763" cy="3697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52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0475" spcFirstLastPara="1" rIns="90475" wrap="square" tIns="4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만화 영화, 클립아트, 그래픽, 디자인이(가) 표시된 사진&#10;&#10;AI가 생성한 콘텐츠는 부정확할 수 있습니다." id="16" name="Google Shape;16;p1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6907" y="795529"/>
            <a:ext cx="9291277" cy="5982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6"/>
          <p:cNvSpPr txBox="1"/>
          <p:nvPr>
            <p:ph idx="10" type="dt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6"/>
          <p:cNvSpPr txBox="1"/>
          <p:nvPr>
            <p:ph idx="11" type="ftr"/>
          </p:nvPr>
        </p:nvSpPr>
        <p:spPr>
          <a:xfrm>
            <a:off x="3281364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6"/>
          <p:cNvSpPr txBox="1"/>
          <p:nvPr>
            <p:ph idx="12" type="sldNum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빈화면">
  <p:cSld name="1_빈화면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7"/>
          <p:cNvSpPr txBox="1"/>
          <p:nvPr/>
        </p:nvSpPr>
        <p:spPr>
          <a:xfrm>
            <a:off x="4336201" y="6452927"/>
            <a:ext cx="528278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FF9933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b="0" i="0" lang="ko-KR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SK하이닉스 New AI Design Camp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클립아트, 만화 영화, 그래픽, 디자인이(가) 표시된 사진&#10;&#10;AI가 생성한 콘텐츠는 부정확할 수 있습니다." id="26" name="Google Shape;26;p1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>
  <p:cSld name="콘텐츠 2개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클립아트, 만화 영화, 그래픽, 스크린샷이(가) 표시된 사진&#10;&#10;AI가 생성한 콘텐츠는 부정확할 수 있습니다." id="28" name="Google Shape;28;p1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>
  <p:cSld name="비교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디자인, 스크린샷, 그래픽이(가) 표시된 사진&#10;&#10;AI가 생성한 콘텐츠는 부정확할 수 있습니다." id="30" name="Google Shape;30;p1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스크린샷, 그래픽, 블루, 디자인이(가) 표시된 사진&#10;&#10;AI가 생성한 콘텐츠는 부정확할 수 있습니다." id="32" name="Google Shape;32;p1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3"/>
          <p:cNvSpPr txBox="1"/>
          <p:nvPr>
            <p:ph idx="1" type="body"/>
          </p:nvPr>
        </p:nvSpPr>
        <p:spPr>
          <a:xfrm>
            <a:off x="729750" y="2204720"/>
            <a:ext cx="5013944" cy="28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83"/>
          <p:cNvSpPr txBox="1"/>
          <p:nvPr>
            <p:ph idx="2" type="body"/>
          </p:nvPr>
        </p:nvSpPr>
        <p:spPr>
          <a:xfrm>
            <a:off x="729751" y="2536433"/>
            <a:ext cx="8075007" cy="80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83"/>
          <p:cNvSpPr txBox="1"/>
          <p:nvPr>
            <p:ph idx="3" type="body"/>
          </p:nvPr>
        </p:nvSpPr>
        <p:spPr>
          <a:xfrm>
            <a:off x="729750" y="3393526"/>
            <a:ext cx="5013944" cy="28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183"/>
          <p:cNvSpPr txBox="1"/>
          <p:nvPr>
            <p:ph idx="4" type="body"/>
          </p:nvPr>
        </p:nvSpPr>
        <p:spPr>
          <a:xfrm>
            <a:off x="729750" y="4126327"/>
            <a:ext cx="5013944" cy="28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74"/>
              <a:buFont typeface="Arial"/>
              <a:buNone/>
              <a:defRPr b="0" i="0" sz="22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화면">
  <p:cSld name="빈화면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2"/>
          <p:cNvSpPr txBox="1"/>
          <p:nvPr/>
        </p:nvSpPr>
        <p:spPr>
          <a:xfrm>
            <a:off x="350583" y="250627"/>
            <a:ext cx="5968480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82"/>
          <p:cNvSpPr/>
          <p:nvPr/>
        </p:nvSpPr>
        <p:spPr>
          <a:xfrm>
            <a:off x="0" y="1129552"/>
            <a:ext cx="9906000" cy="51726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82"/>
          <p:cNvSpPr txBox="1"/>
          <p:nvPr/>
        </p:nvSpPr>
        <p:spPr>
          <a:xfrm>
            <a:off x="4336201" y="6452927"/>
            <a:ext cx="528278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FF9933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b="0" i="0" lang="ko-KR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SK하이닉스 New AI Design Camp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82"/>
          <p:cNvSpPr txBox="1"/>
          <p:nvPr>
            <p:ph idx="10" type="dt"/>
          </p:nvPr>
        </p:nvSpPr>
        <p:spPr>
          <a:xfrm>
            <a:off x="681038" y="6356354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2"/>
          <p:cNvSpPr txBox="1"/>
          <p:nvPr>
            <p:ph idx="11" type="ftr"/>
          </p:nvPr>
        </p:nvSpPr>
        <p:spPr>
          <a:xfrm>
            <a:off x="3281364" y="6356354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빈화면">
  <p:cSld name="1_빈화면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4"/>
          <p:cNvSpPr txBox="1"/>
          <p:nvPr/>
        </p:nvSpPr>
        <p:spPr>
          <a:xfrm>
            <a:off x="4336201" y="6452927"/>
            <a:ext cx="528278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FF9933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b="0" i="0" lang="ko-KR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SK하이닉스 New AI Design Camp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스크린샷, 그래픽, 블루, 디자인이(가) 표시된 사진&#10;&#10;AI가 생성한 콘텐츠는 부정확할 수 있습니다." id="50" name="Google Shape;50;p1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만화 영화, 클립아트, 그래픽, 디자인이(가) 표시된 사진&#10;&#10;AI가 생성한 콘텐츠는 부정확할 수 있습니다." id="52" name="Google Shape;52;p1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8"/>
          <p:cNvSpPr txBox="1"/>
          <p:nvPr>
            <p:ph type="title"/>
          </p:nvPr>
        </p:nvSpPr>
        <p:spPr>
          <a:xfrm>
            <a:off x="681039" y="365128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5"/>
              <a:buFont typeface="Arial"/>
              <a:buNone/>
              <a:defRPr b="0" i="0" sz="3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8"/>
          <p:cNvSpPr txBox="1"/>
          <p:nvPr>
            <p:ph idx="1" type="body"/>
          </p:nvPr>
        </p:nvSpPr>
        <p:spPr>
          <a:xfrm>
            <a:off x="681039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063" lvl="0" marL="457200" marR="0" rtl="0" algn="l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>
                <a:schemeClr val="dk1"/>
              </a:buClr>
              <a:buSzPts val="2275"/>
              <a:buFont typeface="Arial"/>
              <a:buChar char="•"/>
              <a:defRPr b="0" i="0" sz="2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2425" lvl="1" marL="9144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b="0" i="0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788" lvl="2" marL="13716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Font typeface="Arial"/>
              <a:buChar char="•"/>
              <a:defRPr b="0" i="0" sz="16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1501" lvl="3" marL="18288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1501" lvl="4" marL="22860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1501" lvl="5" marL="27432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21501" lvl="6" marL="32004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21501" lvl="7" marL="36576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21501" lvl="8" marL="4114800" marR="0" rtl="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3"/>
              <a:buFont typeface="Arial"/>
              <a:buChar char="•"/>
              <a:defRPr b="0" i="0" sz="14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78"/>
          <p:cNvSpPr txBox="1"/>
          <p:nvPr>
            <p:ph idx="10" type="dt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78"/>
          <p:cNvSpPr txBox="1"/>
          <p:nvPr>
            <p:ph idx="11" type="ftr"/>
          </p:nvPr>
        </p:nvSpPr>
        <p:spPr>
          <a:xfrm>
            <a:off x="3281364" y="6356353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78"/>
          <p:cNvSpPr txBox="1"/>
          <p:nvPr>
            <p:ph idx="12" type="sldNum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1"/>
          <p:cNvSpPr txBox="1"/>
          <p:nvPr>
            <p:ph idx="10" type="dt"/>
          </p:nvPr>
        </p:nvSpPr>
        <p:spPr>
          <a:xfrm>
            <a:off x="681038" y="6356354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텍스트, 폰트, 그래픽, 스크린샷이(가) 표시된 사진&#10;&#10;AI가 생성한 콘텐츠는 부정확할 수 있습니다." id="57" name="Google Shape;57;p1"/>
          <p:cNvPicPr preferRelativeResize="0"/>
          <p:nvPr/>
        </p:nvPicPr>
        <p:blipFill rotWithShape="1">
          <a:blip r:embed="rId3">
            <a:alphaModFix/>
          </a:blip>
          <a:srcRect b="2060" l="0" r="0" t="78993"/>
          <a:stretch/>
        </p:blipFill>
        <p:spPr>
          <a:xfrm>
            <a:off x="664662" y="4906387"/>
            <a:ext cx="5135630" cy="786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"/>
          <p:cNvGrpSpPr/>
          <p:nvPr/>
        </p:nvGrpSpPr>
        <p:grpSpPr>
          <a:xfrm>
            <a:off x="664662" y="1329040"/>
            <a:ext cx="9241338" cy="2495248"/>
            <a:chOff x="664662" y="1329040"/>
            <a:chExt cx="9241338" cy="2495248"/>
          </a:xfrm>
        </p:grpSpPr>
        <p:sp>
          <p:nvSpPr>
            <p:cNvPr id="59" name="Google Shape;59;p1"/>
            <p:cNvSpPr txBox="1"/>
            <p:nvPr/>
          </p:nvSpPr>
          <p:spPr>
            <a:xfrm>
              <a:off x="664662" y="2263317"/>
              <a:ext cx="9241338" cy="1560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 fontScale="92500" lnSpcReduction="10000"/>
            </a:bodyPr>
            <a:lstStyle/>
            <a:p>
              <a:pPr indent="0" lvl="0" marL="857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100000"/>
                <a:buFont typeface="Arial"/>
                <a:buNone/>
              </a:pPr>
              <a:br>
                <a:rPr b="1" i="0" lang="ko-KR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4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New AI Design Camp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857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100000"/>
                <a:buFont typeface="Malgun Gothic"/>
                <a:buNone/>
              </a:pPr>
              <a:r>
                <a:t/>
              </a:r>
              <a:endParaRPr b="1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857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100000"/>
                <a:buFont typeface="Arial"/>
                <a:buNone/>
              </a:pPr>
              <a:r>
                <a:rPr b="0" i="0" lang="ko-KR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Day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 txBox="1"/>
            <p:nvPr/>
          </p:nvSpPr>
          <p:spPr>
            <a:xfrm>
              <a:off x="664662" y="1329040"/>
              <a:ext cx="2425047" cy="1283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857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33"/>
                </a:buClr>
                <a:buSzPts val="2800"/>
                <a:buFont typeface="Arial"/>
                <a:buNone/>
              </a:pPr>
              <a:r>
                <a:rPr b="0" i="0" lang="ko-KR" sz="2800" u="none" cap="none" strike="noStrike">
                  <a:solidFill>
                    <a:srgbClr val="FF9933"/>
                  </a:solidFill>
                  <a:latin typeface="Arial"/>
                  <a:ea typeface="Arial"/>
                  <a:cs typeface="Arial"/>
                  <a:sym typeface="Arial"/>
                </a:rPr>
                <a:t>2026 SKHY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61;p1"/>
          <p:cNvCxnSpPr/>
          <p:nvPr/>
        </p:nvCxnSpPr>
        <p:spPr>
          <a:xfrm>
            <a:off x="846667" y="3234268"/>
            <a:ext cx="282055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/>
        </p:nvSpPr>
        <p:spPr>
          <a:xfrm>
            <a:off x="809245" y="2241539"/>
            <a:ext cx="8254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67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M1. 전략 일관성 확인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/>
          <p:nvPr/>
        </p:nvSpPr>
        <p:spPr>
          <a:xfrm>
            <a:off x="353170" y="1526980"/>
            <a:ext cx="9279780" cy="45618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7"/>
          <p:cNvSpPr/>
          <p:nvPr/>
        </p:nvSpPr>
        <p:spPr>
          <a:xfrm>
            <a:off x="7447478" y="4327648"/>
            <a:ext cx="1800000" cy="76881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7"/>
          <p:cNvSpPr txBox="1"/>
          <p:nvPr/>
        </p:nvSpPr>
        <p:spPr>
          <a:xfrm>
            <a:off x="242048" y="545041"/>
            <a:ext cx="84788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대상 업무와 조직 목표 연계성 확인 Template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7"/>
          <p:cNvSpPr txBox="1"/>
          <p:nvPr/>
        </p:nvSpPr>
        <p:spPr>
          <a:xfrm>
            <a:off x="242048" y="268288"/>
            <a:ext cx="3082925" cy="29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모듈 1. 전략 일관성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37"/>
          <p:cNvCxnSpPr/>
          <p:nvPr/>
        </p:nvCxnSpPr>
        <p:spPr>
          <a:xfrm>
            <a:off x="353170" y="561975"/>
            <a:ext cx="155631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6" name="Google Shape;76;p37"/>
          <p:cNvSpPr/>
          <p:nvPr/>
        </p:nvSpPr>
        <p:spPr>
          <a:xfrm>
            <a:off x="658523" y="4327649"/>
            <a:ext cx="1634777" cy="16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7"/>
          <p:cNvSpPr/>
          <p:nvPr/>
        </p:nvSpPr>
        <p:spPr>
          <a:xfrm>
            <a:off x="2524772" y="4327649"/>
            <a:ext cx="1634777" cy="16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-31800" lvl="0" marL="108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7"/>
          <p:cNvSpPr/>
          <p:nvPr/>
        </p:nvSpPr>
        <p:spPr>
          <a:xfrm>
            <a:off x="658523" y="2360624"/>
            <a:ext cx="1634777" cy="16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7"/>
          <p:cNvSpPr/>
          <p:nvPr/>
        </p:nvSpPr>
        <p:spPr>
          <a:xfrm>
            <a:off x="2524772" y="2360624"/>
            <a:ext cx="1634777" cy="162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-31800" lvl="0" marL="108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7"/>
          <p:cNvSpPr/>
          <p:nvPr/>
        </p:nvSpPr>
        <p:spPr>
          <a:xfrm>
            <a:off x="7447478" y="2360624"/>
            <a:ext cx="1800000" cy="1620000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p37"/>
          <p:cNvGrpSpPr/>
          <p:nvPr/>
        </p:nvGrpSpPr>
        <p:grpSpPr>
          <a:xfrm>
            <a:off x="4391021" y="4327648"/>
            <a:ext cx="2768210" cy="1619999"/>
            <a:chOff x="4391021" y="4327649"/>
            <a:chExt cx="2768210" cy="1062000"/>
          </a:xfrm>
        </p:grpSpPr>
        <p:sp>
          <p:nvSpPr>
            <p:cNvPr id="82" name="Google Shape;82;p37"/>
            <p:cNvSpPr/>
            <p:nvPr/>
          </p:nvSpPr>
          <p:spPr>
            <a:xfrm>
              <a:off x="4391021" y="4327649"/>
              <a:ext cx="2768210" cy="504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7"/>
            <p:cNvSpPr/>
            <p:nvPr/>
          </p:nvSpPr>
          <p:spPr>
            <a:xfrm>
              <a:off x="4391021" y="4885649"/>
              <a:ext cx="2768210" cy="504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37"/>
          <p:cNvSpPr/>
          <p:nvPr/>
        </p:nvSpPr>
        <p:spPr>
          <a:xfrm>
            <a:off x="4391021" y="2360624"/>
            <a:ext cx="2768210" cy="48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7"/>
          <p:cNvSpPr/>
          <p:nvPr/>
        </p:nvSpPr>
        <p:spPr>
          <a:xfrm>
            <a:off x="4391021" y="2929824"/>
            <a:ext cx="2768210" cy="48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7"/>
          <p:cNvSpPr/>
          <p:nvPr/>
        </p:nvSpPr>
        <p:spPr>
          <a:xfrm>
            <a:off x="4391021" y="3499024"/>
            <a:ext cx="2768210" cy="48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7"/>
          <p:cNvSpPr/>
          <p:nvPr/>
        </p:nvSpPr>
        <p:spPr>
          <a:xfrm>
            <a:off x="7447478" y="5178834"/>
            <a:ext cx="1800000" cy="76881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7"/>
          <p:cNvSpPr/>
          <p:nvPr/>
        </p:nvSpPr>
        <p:spPr>
          <a:xfrm>
            <a:off x="799763" y="2464904"/>
            <a:ext cx="392933" cy="339162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rgbClr val="0C0C0C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7"/>
          <p:cNvSpPr/>
          <p:nvPr/>
        </p:nvSpPr>
        <p:spPr>
          <a:xfrm>
            <a:off x="799762" y="4441671"/>
            <a:ext cx="392933" cy="339162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rgbClr val="0C0C0C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7"/>
          <p:cNvSpPr txBox="1"/>
          <p:nvPr/>
        </p:nvSpPr>
        <p:spPr>
          <a:xfrm>
            <a:off x="658523" y="1908940"/>
            <a:ext cx="16347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조직 목표 |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7"/>
          <p:cNvSpPr txBox="1"/>
          <p:nvPr/>
        </p:nvSpPr>
        <p:spPr>
          <a:xfrm>
            <a:off x="2524772" y="1908940"/>
            <a:ext cx="16347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업무 목표 |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7"/>
          <p:cNvSpPr txBox="1"/>
          <p:nvPr/>
        </p:nvSpPr>
        <p:spPr>
          <a:xfrm>
            <a:off x="4391021" y="1908940"/>
            <a:ext cx="27682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관련(핵심) 업무 |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7"/>
          <p:cNvSpPr txBox="1"/>
          <p:nvPr/>
        </p:nvSpPr>
        <p:spPr>
          <a:xfrm>
            <a:off x="7203881" y="1908940"/>
            <a:ext cx="22423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AI 대상 후보 업무(과제) |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 txBox="1"/>
          <p:nvPr/>
        </p:nvSpPr>
        <p:spPr>
          <a:xfrm>
            <a:off x="809245" y="2241539"/>
            <a:ext cx="8254544" cy="457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67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M2. 업무 영역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 txBox="1"/>
          <p:nvPr/>
        </p:nvSpPr>
        <p:spPr>
          <a:xfrm>
            <a:off x="271077" y="550332"/>
            <a:ext cx="6885097" cy="572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[참고] 업무 정의</a:t>
            </a:r>
            <a:r>
              <a:rPr b="1" i="0" lang="ko-K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 Process Map 맵핑 Template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0"/>
          <p:cNvSpPr txBox="1"/>
          <p:nvPr/>
        </p:nvSpPr>
        <p:spPr>
          <a:xfrm>
            <a:off x="271077" y="268319"/>
            <a:ext cx="3082517" cy="293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모듈 2. 업무 영역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50"/>
          <p:cNvCxnSpPr/>
          <p:nvPr/>
        </p:nvCxnSpPr>
        <p:spPr>
          <a:xfrm>
            <a:off x="435644" y="589490"/>
            <a:ext cx="155631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6" name="Google Shape;106;p50"/>
          <p:cNvSpPr/>
          <p:nvPr/>
        </p:nvSpPr>
        <p:spPr>
          <a:xfrm>
            <a:off x="4125475" y="1405098"/>
            <a:ext cx="1655052" cy="709383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2262626" y="1405098"/>
            <a:ext cx="1655052" cy="709383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/>
          <p:nvPr/>
        </p:nvSpPr>
        <p:spPr>
          <a:xfrm>
            <a:off x="5988325" y="1405098"/>
            <a:ext cx="1655052" cy="709383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0"/>
          <p:cNvSpPr/>
          <p:nvPr/>
        </p:nvSpPr>
        <p:spPr>
          <a:xfrm>
            <a:off x="7851172" y="1405098"/>
            <a:ext cx="1655052" cy="709383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0"/>
          <p:cNvSpPr/>
          <p:nvPr/>
        </p:nvSpPr>
        <p:spPr>
          <a:xfrm>
            <a:off x="386273" y="1405098"/>
            <a:ext cx="1655052" cy="709383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50"/>
          <p:cNvCxnSpPr/>
          <p:nvPr/>
        </p:nvCxnSpPr>
        <p:spPr>
          <a:xfrm>
            <a:off x="4953001" y="3108521"/>
            <a:ext cx="0" cy="255016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2" name="Google Shape;112;p50"/>
          <p:cNvCxnSpPr/>
          <p:nvPr/>
        </p:nvCxnSpPr>
        <p:spPr>
          <a:xfrm>
            <a:off x="4953001" y="4102561"/>
            <a:ext cx="0" cy="255016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3" name="Google Shape;113;p50"/>
          <p:cNvCxnSpPr/>
          <p:nvPr/>
        </p:nvCxnSpPr>
        <p:spPr>
          <a:xfrm>
            <a:off x="4953001" y="5061519"/>
            <a:ext cx="0" cy="290099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4" name="Google Shape;114;p50"/>
          <p:cNvCxnSpPr/>
          <p:nvPr/>
        </p:nvCxnSpPr>
        <p:spPr>
          <a:xfrm>
            <a:off x="3090152" y="3061839"/>
            <a:ext cx="0" cy="301698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5" name="Google Shape;115;p50"/>
          <p:cNvCxnSpPr/>
          <p:nvPr/>
        </p:nvCxnSpPr>
        <p:spPr>
          <a:xfrm>
            <a:off x="3090152" y="4102561"/>
            <a:ext cx="0" cy="290099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6" name="Google Shape;116;p50"/>
          <p:cNvCxnSpPr/>
          <p:nvPr/>
        </p:nvCxnSpPr>
        <p:spPr>
          <a:xfrm>
            <a:off x="6815851" y="3108521"/>
            <a:ext cx="0" cy="255016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7" name="Google Shape;117;p50"/>
          <p:cNvCxnSpPr/>
          <p:nvPr/>
        </p:nvCxnSpPr>
        <p:spPr>
          <a:xfrm>
            <a:off x="6815851" y="4102561"/>
            <a:ext cx="0" cy="255016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18" name="Google Shape;118;p50"/>
          <p:cNvCxnSpPr/>
          <p:nvPr/>
        </p:nvCxnSpPr>
        <p:spPr>
          <a:xfrm>
            <a:off x="8678698" y="3108521"/>
            <a:ext cx="0" cy="255016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19" name="Google Shape;119;p50"/>
          <p:cNvSpPr/>
          <p:nvPr/>
        </p:nvSpPr>
        <p:spPr>
          <a:xfrm>
            <a:off x="4125476" y="236949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0"/>
          <p:cNvSpPr/>
          <p:nvPr/>
        </p:nvSpPr>
        <p:spPr>
          <a:xfrm>
            <a:off x="2262627" y="236949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0"/>
          <p:cNvSpPr/>
          <p:nvPr/>
        </p:nvSpPr>
        <p:spPr>
          <a:xfrm>
            <a:off x="5988326" y="236949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0"/>
          <p:cNvSpPr/>
          <p:nvPr/>
        </p:nvSpPr>
        <p:spPr>
          <a:xfrm>
            <a:off x="7851173" y="236949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0"/>
          <p:cNvSpPr/>
          <p:nvPr/>
        </p:nvSpPr>
        <p:spPr>
          <a:xfrm>
            <a:off x="386274" y="236949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0"/>
          <p:cNvSpPr/>
          <p:nvPr/>
        </p:nvSpPr>
        <p:spPr>
          <a:xfrm>
            <a:off x="4125476" y="4357577"/>
            <a:ext cx="1655050" cy="703942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0"/>
          <p:cNvSpPr/>
          <p:nvPr/>
        </p:nvSpPr>
        <p:spPr>
          <a:xfrm>
            <a:off x="2262627" y="4392660"/>
            <a:ext cx="1655050" cy="703942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0"/>
          <p:cNvSpPr/>
          <p:nvPr/>
        </p:nvSpPr>
        <p:spPr>
          <a:xfrm>
            <a:off x="5988326" y="4357577"/>
            <a:ext cx="1655050" cy="703942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0"/>
          <p:cNvSpPr/>
          <p:nvPr/>
        </p:nvSpPr>
        <p:spPr>
          <a:xfrm>
            <a:off x="386274" y="4392660"/>
            <a:ext cx="1655050" cy="703942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0"/>
          <p:cNvSpPr/>
          <p:nvPr/>
        </p:nvSpPr>
        <p:spPr>
          <a:xfrm>
            <a:off x="4125476" y="5351618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0"/>
          <p:cNvSpPr/>
          <p:nvPr/>
        </p:nvSpPr>
        <p:spPr>
          <a:xfrm>
            <a:off x="386274" y="5351618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0"/>
          <p:cNvSpPr/>
          <p:nvPr/>
        </p:nvSpPr>
        <p:spPr>
          <a:xfrm>
            <a:off x="4125476" y="336353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0"/>
          <p:cNvSpPr/>
          <p:nvPr/>
        </p:nvSpPr>
        <p:spPr>
          <a:xfrm>
            <a:off x="2262627" y="336353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0"/>
          <p:cNvSpPr/>
          <p:nvPr/>
        </p:nvSpPr>
        <p:spPr>
          <a:xfrm>
            <a:off x="5988326" y="336353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0"/>
          <p:cNvSpPr/>
          <p:nvPr/>
        </p:nvSpPr>
        <p:spPr>
          <a:xfrm>
            <a:off x="7851173" y="336353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0"/>
          <p:cNvSpPr/>
          <p:nvPr/>
        </p:nvSpPr>
        <p:spPr>
          <a:xfrm>
            <a:off x="386274" y="3363537"/>
            <a:ext cx="1655050" cy="73902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50"/>
          <p:cNvCxnSpPr/>
          <p:nvPr/>
        </p:nvCxnSpPr>
        <p:spPr>
          <a:xfrm>
            <a:off x="1213799" y="3108521"/>
            <a:ext cx="0" cy="255016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6" name="Google Shape;136;p50"/>
          <p:cNvCxnSpPr/>
          <p:nvPr/>
        </p:nvCxnSpPr>
        <p:spPr>
          <a:xfrm>
            <a:off x="1213799" y="4102561"/>
            <a:ext cx="0" cy="290099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7" name="Google Shape;137;p50"/>
          <p:cNvCxnSpPr/>
          <p:nvPr/>
        </p:nvCxnSpPr>
        <p:spPr>
          <a:xfrm>
            <a:off x="1213799" y="5096602"/>
            <a:ext cx="0" cy="255016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138" name="Google Shape;138;p50"/>
          <p:cNvGrpSpPr/>
          <p:nvPr/>
        </p:nvGrpSpPr>
        <p:grpSpPr>
          <a:xfrm>
            <a:off x="8262758" y="5555561"/>
            <a:ext cx="1243465" cy="656744"/>
            <a:chOff x="7851172" y="4514058"/>
            <a:chExt cx="1655052" cy="1703423"/>
          </a:xfrm>
        </p:grpSpPr>
        <p:sp>
          <p:nvSpPr>
            <p:cNvPr id="139" name="Google Shape;139;p50"/>
            <p:cNvSpPr/>
            <p:nvPr/>
          </p:nvSpPr>
          <p:spPr>
            <a:xfrm>
              <a:off x="7851172" y="4514058"/>
              <a:ext cx="1655052" cy="709383"/>
            </a:xfrm>
            <a:prstGeom prst="rect">
              <a:avLst/>
            </a:prstGeom>
            <a:solidFill>
              <a:srgbClr val="FEE599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L2 업무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0"/>
            <p:cNvSpPr/>
            <p:nvPr/>
          </p:nvSpPr>
          <p:spPr>
            <a:xfrm>
              <a:off x="7851173" y="5478457"/>
              <a:ext cx="1655050" cy="739024"/>
            </a:xfrm>
            <a:prstGeom prst="rect">
              <a:avLst/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 3 업무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8"/>
          <p:cNvSpPr/>
          <p:nvPr/>
        </p:nvSpPr>
        <p:spPr>
          <a:xfrm>
            <a:off x="7827465" y="5320221"/>
            <a:ext cx="1800000" cy="9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8"/>
          <p:cNvSpPr txBox="1"/>
          <p:nvPr/>
        </p:nvSpPr>
        <p:spPr>
          <a:xfrm>
            <a:off x="271077" y="268319"/>
            <a:ext cx="3082517" cy="293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모듈 2. 업무 영역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58"/>
          <p:cNvCxnSpPr/>
          <p:nvPr/>
        </p:nvCxnSpPr>
        <p:spPr>
          <a:xfrm>
            <a:off x="353170" y="561975"/>
            <a:ext cx="155631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8" name="Google Shape;148;p58"/>
          <p:cNvSpPr txBox="1"/>
          <p:nvPr/>
        </p:nvSpPr>
        <p:spPr>
          <a:xfrm>
            <a:off x="271077" y="550332"/>
            <a:ext cx="4645395" cy="572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[참고] AI Agent 대상영역 분석 Template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58"/>
          <p:cNvCxnSpPr/>
          <p:nvPr/>
        </p:nvCxnSpPr>
        <p:spPr>
          <a:xfrm>
            <a:off x="2054830" y="1591410"/>
            <a:ext cx="207798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0" name="Google Shape;150;p58"/>
          <p:cNvCxnSpPr/>
          <p:nvPr/>
        </p:nvCxnSpPr>
        <p:spPr>
          <a:xfrm>
            <a:off x="3917680" y="1591410"/>
            <a:ext cx="2077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1" name="Google Shape;151;p58"/>
          <p:cNvCxnSpPr/>
          <p:nvPr/>
        </p:nvCxnSpPr>
        <p:spPr>
          <a:xfrm>
            <a:off x="5780529" y="1591410"/>
            <a:ext cx="207798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2" name="Google Shape;152;p58"/>
          <p:cNvSpPr/>
          <p:nvPr/>
        </p:nvSpPr>
        <p:spPr>
          <a:xfrm>
            <a:off x="4125477" y="1268963"/>
            <a:ext cx="1655052" cy="644894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58"/>
          <p:cNvCxnSpPr/>
          <p:nvPr/>
        </p:nvCxnSpPr>
        <p:spPr>
          <a:xfrm>
            <a:off x="4952999" y="2722296"/>
            <a:ext cx="0" cy="23208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4" name="Google Shape;154;p58"/>
          <p:cNvCxnSpPr/>
          <p:nvPr/>
        </p:nvCxnSpPr>
        <p:spPr>
          <a:xfrm>
            <a:off x="4952999" y="3588271"/>
            <a:ext cx="0" cy="23208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5" name="Google Shape;155;p58"/>
          <p:cNvCxnSpPr/>
          <p:nvPr/>
        </p:nvCxnSpPr>
        <p:spPr>
          <a:xfrm>
            <a:off x="4952999" y="4424154"/>
            <a:ext cx="0" cy="262177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6" name="Google Shape;156;p58"/>
          <p:cNvCxnSpPr/>
          <p:nvPr/>
        </p:nvCxnSpPr>
        <p:spPr>
          <a:xfrm>
            <a:off x="4952999" y="5320222"/>
            <a:ext cx="0" cy="232083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7" name="Google Shape;157;p58"/>
          <p:cNvSpPr/>
          <p:nvPr/>
        </p:nvSpPr>
        <p:spPr>
          <a:xfrm>
            <a:off x="2262628" y="1268963"/>
            <a:ext cx="1655052" cy="644894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58"/>
          <p:cNvCxnSpPr/>
          <p:nvPr/>
        </p:nvCxnSpPr>
        <p:spPr>
          <a:xfrm>
            <a:off x="3090150" y="2722296"/>
            <a:ext cx="0" cy="23208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9" name="Google Shape;159;p58"/>
          <p:cNvCxnSpPr/>
          <p:nvPr/>
        </p:nvCxnSpPr>
        <p:spPr>
          <a:xfrm>
            <a:off x="3090150" y="3588271"/>
            <a:ext cx="0" cy="262177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0" name="Google Shape;160;p58"/>
          <p:cNvCxnSpPr/>
          <p:nvPr/>
        </p:nvCxnSpPr>
        <p:spPr>
          <a:xfrm>
            <a:off x="3090150" y="4454246"/>
            <a:ext cx="0" cy="23208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61" name="Google Shape;161;p58"/>
          <p:cNvSpPr/>
          <p:nvPr/>
        </p:nvSpPr>
        <p:spPr>
          <a:xfrm>
            <a:off x="5988327" y="1268963"/>
            <a:ext cx="1655052" cy="644894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58"/>
          <p:cNvCxnSpPr/>
          <p:nvPr/>
        </p:nvCxnSpPr>
        <p:spPr>
          <a:xfrm>
            <a:off x="6815849" y="2722296"/>
            <a:ext cx="0" cy="23208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3" name="Google Shape;163;p58"/>
          <p:cNvCxnSpPr/>
          <p:nvPr/>
        </p:nvCxnSpPr>
        <p:spPr>
          <a:xfrm>
            <a:off x="6815849" y="3588271"/>
            <a:ext cx="0" cy="23208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4" name="Google Shape;164;p58"/>
          <p:cNvCxnSpPr/>
          <p:nvPr/>
        </p:nvCxnSpPr>
        <p:spPr>
          <a:xfrm>
            <a:off x="6815849" y="4424154"/>
            <a:ext cx="0" cy="262177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65" name="Google Shape;165;p58"/>
          <p:cNvSpPr/>
          <p:nvPr/>
        </p:nvSpPr>
        <p:spPr>
          <a:xfrm>
            <a:off x="7851174" y="1268963"/>
            <a:ext cx="1655052" cy="644894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58"/>
          <p:cNvCxnSpPr/>
          <p:nvPr/>
        </p:nvCxnSpPr>
        <p:spPr>
          <a:xfrm>
            <a:off x="8678696" y="2722296"/>
            <a:ext cx="0" cy="23208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67" name="Google Shape;167;p58"/>
          <p:cNvSpPr/>
          <p:nvPr/>
        </p:nvSpPr>
        <p:spPr>
          <a:xfrm>
            <a:off x="399778" y="1268963"/>
            <a:ext cx="1655052" cy="644894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8"/>
          <p:cNvSpPr/>
          <p:nvPr/>
        </p:nvSpPr>
        <p:spPr>
          <a:xfrm>
            <a:off x="4125474" y="2088405"/>
            <a:ext cx="1655050" cy="63389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8"/>
          <p:cNvSpPr/>
          <p:nvPr/>
        </p:nvSpPr>
        <p:spPr>
          <a:xfrm>
            <a:off x="2262625" y="2088405"/>
            <a:ext cx="1655050" cy="633891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8"/>
          <p:cNvSpPr/>
          <p:nvPr/>
        </p:nvSpPr>
        <p:spPr>
          <a:xfrm>
            <a:off x="5988324" y="2088405"/>
            <a:ext cx="1655050" cy="63389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8"/>
          <p:cNvSpPr/>
          <p:nvPr/>
        </p:nvSpPr>
        <p:spPr>
          <a:xfrm>
            <a:off x="7851171" y="2088405"/>
            <a:ext cx="1655050" cy="633891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8"/>
          <p:cNvSpPr/>
          <p:nvPr/>
        </p:nvSpPr>
        <p:spPr>
          <a:xfrm>
            <a:off x="399775" y="2088405"/>
            <a:ext cx="1655050" cy="63389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58"/>
          <p:cNvCxnSpPr/>
          <p:nvPr/>
        </p:nvCxnSpPr>
        <p:spPr>
          <a:xfrm>
            <a:off x="1227300" y="2722296"/>
            <a:ext cx="0" cy="23208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4" name="Google Shape;174;p58"/>
          <p:cNvCxnSpPr/>
          <p:nvPr/>
        </p:nvCxnSpPr>
        <p:spPr>
          <a:xfrm>
            <a:off x="1227300" y="3588271"/>
            <a:ext cx="0" cy="262177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75" name="Google Shape;175;p58"/>
          <p:cNvSpPr/>
          <p:nvPr/>
        </p:nvSpPr>
        <p:spPr>
          <a:xfrm>
            <a:off x="4125474" y="3820356"/>
            <a:ext cx="1655050" cy="603799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8"/>
          <p:cNvSpPr/>
          <p:nvPr/>
        </p:nvSpPr>
        <p:spPr>
          <a:xfrm>
            <a:off x="2262625" y="3850448"/>
            <a:ext cx="1655050" cy="603799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8"/>
          <p:cNvSpPr/>
          <p:nvPr/>
        </p:nvSpPr>
        <p:spPr>
          <a:xfrm>
            <a:off x="5988324" y="3820356"/>
            <a:ext cx="1655050" cy="603799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8"/>
          <p:cNvSpPr/>
          <p:nvPr/>
        </p:nvSpPr>
        <p:spPr>
          <a:xfrm>
            <a:off x="399775" y="3850448"/>
            <a:ext cx="1655050" cy="603799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8"/>
          <p:cNvSpPr/>
          <p:nvPr/>
        </p:nvSpPr>
        <p:spPr>
          <a:xfrm>
            <a:off x="4125474" y="4686331"/>
            <a:ext cx="1655050" cy="633891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8"/>
          <p:cNvSpPr/>
          <p:nvPr/>
        </p:nvSpPr>
        <p:spPr>
          <a:xfrm>
            <a:off x="2262625" y="4686331"/>
            <a:ext cx="1655050" cy="633891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8"/>
          <p:cNvSpPr/>
          <p:nvPr/>
        </p:nvSpPr>
        <p:spPr>
          <a:xfrm>
            <a:off x="5988324" y="4686331"/>
            <a:ext cx="1655050" cy="63389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8"/>
          <p:cNvSpPr/>
          <p:nvPr/>
        </p:nvSpPr>
        <p:spPr>
          <a:xfrm>
            <a:off x="399775" y="4686331"/>
            <a:ext cx="1655050" cy="63389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8"/>
          <p:cNvSpPr/>
          <p:nvPr/>
        </p:nvSpPr>
        <p:spPr>
          <a:xfrm>
            <a:off x="4125474" y="5552305"/>
            <a:ext cx="1655050" cy="633891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8"/>
          <p:cNvSpPr/>
          <p:nvPr/>
        </p:nvSpPr>
        <p:spPr>
          <a:xfrm>
            <a:off x="399775" y="5552305"/>
            <a:ext cx="1655050" cy="63389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58"/>
          <p:cNvCxnSpPr/>
          <p:nvPr/>
        </p:nvCxnSpPr>
        <p:spPr>
          <a:xfrm>
            <a:off x="1227300" y="4454246"/>
            <a:ext cx="0" cy="232084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86" name="Google Shape;186;p58"/>
          <p:cNvCxnSpPr/>
          <p:nvPr/>
        </p:nvCxnSpPr>
        <p:spPr>
          <a:xfrm>
            <a:off x="1227300" y="5320222"/>
            <a:ext cx="0" cy="232083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87" name="Google Shape;187;p58"/>
          <p:cNvSpPr/>
          <p:nvPr/>
        </p:nvSpPr>
        <p:spPr>
          <a:xfrm>
            <a:off x="4125474" y="2954380"/>
            <a:ext cx="1655050" cy="63389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8"/>
          <p:cNvSpPr/>
          <p:nvPr/>
        </p:nvSpPr>
        <p:spPr>
          <a:xfrm>
            <a:off x="2262625" y="2954380"/>
            <a:ext cx="1655050" cy="633891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8"/>
          <p:cNvSpPr/>
          <p:nvPr/>
        </p:nvSpPr>
        <p:spPr>
          <a:xfrm>
            <a:off x="5988324" y="2954380"/>
            <a:ext cx="1655050" cy="633891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8"/>
          <p:cNvSpPr/>
          <p:nvPr/>
        </p:nvSpPr>
        <p:spPr>
          <a:xfrm>
            <a:off x="7851171" y="2954380"/>
            <a:ext cx="1655050" cy="633891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8"/>
          <p:cNvSpPr/>
          <p:nvPr/>
        </p:nvSpPr>
        <p:spPr>
          <a:xfrm>
            <a:off x="399775" y="2954380"/>
            <a:ext cx="1655050" cy="633891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78" y="3136586"/>
            <a:ext cx="275341" cy="2694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58"/>
          <p:cNvCxnSpPr/>
          <p:nvPr/>
        </p:nvCxnSpPr>
        <p:spPr>
          <a:xfrm>
            <a:off x="7643379" y="1591410"/>
            <a:ext cx="207795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94" name="Google Shape;194;p58"/>
          <p:cNvCxnSpPr/>
          <p:nvPr/>
        </p:nvCxnSpPr>
        <p:spPr>
          <a:xfrm rot="-5400000">
            <a:off x="426875" y="4033400"/>
            <a:ext cx="3463800" cy="207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95" name="Google Shape;195;p58"/>
          <p:cNvCxnSpPr/>
          <p:nvPr/>
        </p:nvCxnSpPr>
        <p:spPr>
          <a:xfrm rot="-5400000">
            <a:off x="2722625" y="3600326"/>
            <a:ext cx="2598000" cy="2079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96" name="Google Shape;196;p58"/>
          <p:cNvCxnSpPr/>
          <p:nvPr/>
        </p:nvCxnSpPr>
        <p:spPr>
          <a:xfrm rot="-5400000">
            <a:off x="4152574" y="4033400"/>
            <a:ext cx="3463800" cy="2079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97" name="Google Shape;197;p58"/>
          <p:cNvCxnSpPr/>
          <p:nvPr/>
        </p:nvCxnSpPr>
        <p:spPr>
          <a:xfrm rot="-5400000">
            <a:off x="6448324" y="3600326"/>
            <a:ext cx="2598000" cy="2079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med" w="med" type="triangle"/>
          </a:ln>
        </p:spPr>
      </p:cxnSp>
      <p:pic>
        <p:nvPicPr>
          <p:cNvPr id="198" name="Google Shape;19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6116" y="3136586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6116" y="4017607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6116" y="4868536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6116" y="2270610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78" y="4017607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6652" y="4017607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1414" y="4017607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7467" y="3138906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2229" y="3138906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3802" y="4869201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3802" y="5720131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7467" y="2270610"/>
            <a:ext cx="275341" cy="269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사람 - 무료 화살개 아이콘" id="210" name="Google Shape;210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555" y="2290571"/>
            <a:ext cx="257985" cy="229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사람 - 무료 화살개 아이콘" id="211" name="Google Shape;21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3183" y="2290571"/>
            <a:ext cx="257985" cy="229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사람 - 무료 화살개 아이콘" id="212" name="Google Shape;21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0906" y="2290571"/>
            <a:ext cx="257985" cy="229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사람 - 무료 화살개 아이콘" id="213" name="Google Shape;21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3183" y="3177357"/>
            <a:ext cx="257985" cy="229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사람 - 무료 화살개 아이콘" id="214" name="Google Shape;21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357" y="4888497"/>
            <a:ext cx="257985" cy="229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사람 - 무료 화살개 아이콘" id="215" name="Google Shape;21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357" y="5754471"/>
            <a:ext cx="257985" cy="229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사람 - 무료 화살개 아이콘" id="216" name="Google Shape;21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4008" y="4888497"/>
            <a:ext cx="257985" cy="2295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58"/>
          <p:cNvGrpSpPr/>
          <p:nvPr/>
        </p:nvGrpSpPr>
        <p:grpSpPr>
          <a:xfrm>
            <a:off x="7899940" y="5390995"/>
            <a:ext cx="1655050" cy="758452"/>
            <a:chOff x="7886908" y="5384619"/>
            <a:chExt cx="1655050" cy="758452"/>
          </a:xfrm>
        </p:grpSpPr>
        <p:sp>
          <p:nvSpPr>
            <p:cNvPr id="218" name="Google Shape;218;p58"/>
            <p:cNvSpPr/>
            <p:nvPr/>
          </p:nvSpPr>
          <p:spPr>
            <a:xfrm>
              <a:off x="7886908" y="5384619"/>
              <a:ext cx="1655050" cy="357815"/>
            </a:xfrm>
            <a:prstGeom prst="rect">
              <a:avLst/>
            </a:prstGeom>
            <a:solidFill>
              <a:srgbClr val="F7CAAC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216000" spcFirstLastPara="1" rIns="0" wrap="square" tIns="72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AI Agent 수행 업무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8"/>
            <p:cNvSpPr/>
            <p:nvPr/>
          </p:nvSpPr>
          <p:spPr>
            <a:xfrm>
              <a:off x="7886908" y="5785256"/>
              <a:ext cx="1655050" cy="357815"/>
            </a:xfrm>
            <a:prstGeom prst="rect">
              <a:avLst/>
            </a:prstGeom>
            <a:solidFill>
              <a:srgbClr val="FBE4D4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216000" spcFirstLastPara="1" rIns="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Human 수행 업무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0" name="Google Shape;220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56945" y="5428786"/>
              <a:ext cx="275341" cy="269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사람 - 무료 화살개 아이콘" id="221" name="Google Shape;221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965623" y="5847482"/>
              <a:ext cx="257985" cy="2295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2"/>
          <p:cNvSpPr txBox="1"/>
          <p:nvPr/>
        </p:nvSpPr>
        <p:spPr>
          <a:xfrm>
            <a:off x="809245" y="2241541"/>
            <a:ext cx="8254544" cy="564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67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M3. Pain Point 도출 및 정량화</a:t>
            </a:r>
            <a:endParaRPr b="1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0"/>
          <p:cNvSpPr/>
          <p:nvPr/>
        </p:nvSpPr>
        <p:spPr>
          <a:xfrm>
            <a:off x="8927805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0"/>
          <p:cNvSpPr/>
          <p:nvPr/>
        </p:nvSpPr>
        <p:spPr>
          <a:xfrm>
            <a:off x="9172378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0"/>
          <p:cNvSpPr/>
          <p:nvPr/>
        </p:nvSpPr>
        <p:spPr>
          <a:xfrm>
            <a:off x="9416950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0"/>
          <p:cNvSpPr/>
          <p:nvPr/>
        </p:nvSpPr>
        <p:spPr>
          <a:xfrm>
            <a:off x="8683232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0"/>
          <p:cNvSpPr/>
          <p:nvPr/>
        </p:nvSpPr>
        <p:spPr>
          <a:xfrm>
            <a:off x="8438659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0"/>
          <p:cNvSpPr/>
          <p:nvPr/>
        </p:nvSpPr>
        <p:spPr>
          <a:xfrm>
            <a:off x="8193726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0"/>
          <p:cNvSpPr/>
          <p:nvPr/>
        </p:nvSpPr>
        <p:spPr>
          <a:xfrm>
            <a:off x="7949153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0"/>
          <p:cNvSpPr txBox="1"/>
          <p:nvPr/>
        </p:nvSpPr>
        <p:spPr>
          <a:xfrm>
            <a:off x="271077" y="541865"/>
            <a:ext cx="4999501" cy="572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대상영역 Pain Point 도출 </a:t>
            </a:r>
            <a:r>
              <a:rPr b="1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Template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0"/>
          <p:cNvSpPr txBox="1"/>
          <p:nvPr/>
        </p:nvSpPr>
        <p:spPr>
          <a:xfrm>
            <a:off x="271077" y="268319"/>
            <a:ext cx="3082517" cy="293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모듈 3. Pain Point 도출 및 정량화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70"/>
          <p:cNvCxnSpPr/>
          <p:nvPr/>
        </p:nvCxnSpPr>
        <p:spPr>
          <a:xfrm>
            <a:off x="372769" y="589490"/>
            <a:ext cx="155631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1" name="Google Shape;241;p70"/>
          <p:cNvSpPr/>
          <p:nvPr/>
        </p:nvSpPr>
        <p:spPr>
          <a:xfrm>
            <a:off x="393024" y="1388164"/>
            <a:ext cx="1655052" cy="8280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0"/>
          <p:cNvSpPr/>
          <p:nvPr/>
        </p:nvSpPr>
        <p:spPr>
          <a:xfrm>
            <a:off x="393025" y="2369495"/>
            <a:ext cx="1655050" cy="827999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0"/>
          <p:cNvSpPr/>
          <p:nvPr/>
        </p:nvSpPr>
        <p:spPr>
          <a:xfrm>
            <a:off x="393025" y="3335664"/>
            <a:ext cx="1655050" cy="827999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0"/>
          <p:cNvSpPr/>
          <p:nvPr/>
        </p:nvSpPr>
        <p:spPr>
          <a:xfrm>
            <a:off x="5991700" y="2369495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0"/>
          <p:cNvSpPr/>
          <p:nvPr/>
        </p:nvSpPr>
        <p:spPr>
          <a:xfrm>
            <a:off x="5991700" y="4301832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0"/>
          <p:cNvSpPr/>
          <p:nvPr/>
        </p:nvSpPr>
        <p:spPr>
          <a:xfrm>
            <a:off x="393025" y="4301832"/>
            <a:ext cx="1655050" cy="827999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0"/>
          <p:cNvSpPr/>
          <p:nvPr/>
        </p:nvSpPr>
        <p:spPr>
          <a:xfrm>
            <a:off x="4125475" y="2369495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0"/>
          <p:cNvSpPr/>
          <p:nvPr/>
        </p:nvSpPr>
        <p:spPr>
          <a:xfrm>
            <a:off x="4125475" y="3335664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0"/>
          <p:cNvSpPr/>
          <p:nvPr/>
        </p:nvSpPr>
        <p:spPr>
          <a:xfrm>
            <a:off x="4125475" y="4301832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0"/>
          <p:cNvSpPr/>
          <p:nvPr/>
        </p:nvSpPr>
        <p:spPr>
          <a:xfrm>
            <a:off x="4125475" y="5268001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0"/>
          <p:cNvSpPr/>
          <p:nvPr/>
        </p:nvSpPr>
        <p:spPr>
          <a:xfrm>
            <a:off x="2259250" y="2369495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0"/>
          <p:cNvSpPr/>
          <p:nvPr/>
        </p:nvSpPr>
        <p:spPr>
          <a:xfrm>
            <a:off x="2259250" y="3335664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0"/>
          <p:cNvSpPr/>
          <p:nvPr/>
        </p:nvSpPr>
        <p:spPr>
          <a:xfrm>
            <a:off x="2259250" y="4301832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0"/>
          <p:cNvSpPr/>
          <p:nvPr/>
        </p:nvSpPr>
        <p:spPr>
          <a:xfrm>
            <a:off x="2259250" y="5268001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0"/>
          <p:cNvSpPr/>
          <p:nvPr/>
        </p:nvSpPr>
        <p:spPr>
          <a:xfrm>
            <a:off x="393025" y="5268001"/>
            <a:ext cx="1655050" cy="827999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21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0"/>
          <p:cNvSpPr/>
          <p:nvPr/>
        </p:nvSpPr>
        <p:spPr>
          <a:xfrm>
            <a:off x="7857927" y="2369495"/>
            <a:ext cx="165505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70"/>
          <p:cNvGrpSpPr/>
          <p:nvPr/>
        </p:nvGrpSpPr>
        <p:grpSpPr>
          <a:xfrm>
            <a:off x="8096811" y="4225315"/>
            <a:ext cx="1504590" cy="1870685"/>
            <a:chOff x="8096811" y="4225315"/>
            <a:chExt cx="1504590" cy="1870685"/>
          </a:xfrm>
        </p:grpSpPr>
        <p:sp>
          <p:nvSpPr>
            <p:cNvPr id="258" name="Google Shape;258;p70"/>
            <p:cNvSpPr/>
            <p:nvPr/>
          </p:nvSpPr>
          <p:spPr>
            <a:xfrm>
              <a:off x="8096811" y="4225315"/>
              <a:ext cx="1504590" cy="187068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" name="Google Shape;259;p70"/>
            <p:cNvGrpSpPr/>
            <p:nvPr/>
          </p:nvGrpSpPr>
          <p:grpSpPr>
            <a:xfrm>
              <a:off x="8227374" y="4305744"/>
              <a:ext cx="1243465" cy="1709826"/>
              <a:chOff x="8205985" y="4301832"/>
              <a:chExt cx="1243465" cy="1709826"/>
            </a:xfrm>
          </p:grpSpPr>
          <p:sp>
            <p:nvSpPr>
              <p:cNvPr id="260" name="Google Shape;260;p70"/>
              <p:cNvSpPr/>
              <p:nvPr/>
            </p:nvSpPr>
            <p:spPr>
              <a:xfrm>
                <a:off x="8205986" y="5726732"/>
                <a:ext cx="1243463" cy="284926"/>
              </a:xfrm>
              <a:prstGeom prst="rect">
                <a:avLst/>
              </a:prstGeom>
              <a:noFill/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Critical dot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70"/>
              <p:cNvSpPr/>
              <p:nvPr/>
            </p:nvSpPr>
            <p:spPr>
              <a:xfrm>
                <a:off x="8205985" y="4301832"/>
                <a:ext cx="1243465" cy="273498"/>
              </a:xfrm>
              <a:prstGeom prst="rect">
                <a:avLst/>
              </a:prstGeom>
              <a:solidFill>
                <a:srgbClr val="FEE599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Lv2 업무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70"/>
              <p:cNvSpPr/>
              <p:nvPr/>
            </p:nvSpPr>
            <p:spPr>
              <a:xfrm>
                <a:off x="8205986" y="4649486"/>
                <a:ext cx="1243463" cy="284926"/>
              </a:xfrm>
              <a:prstGeom prst="rect">
                <a:avLst/>
              </a:prstGeom>
              <a:solidFill>
                <a:srgbClr val="C4E0B2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대상 영역 (Lv3) </a:t>
                </a:r>
                <a:endParaRPr b="0" i="0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70"/>
              <p:cNvSpPr/>
              <p:nvPr/>
            </p:nvSpPr>
            <p:spPr>
              <a:xfrm>
                <a:off x="8205986" y="5008568"/>
                <a:ext cx="1243463" cy="284926"/>
              </a:xfrm>
              <a:prstGeom prst="rect">
                <a:avLst/>
              </a:prstGeom>
              <a:solidFill>
                <a:srgbClr val="FBE4D4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대상 업무 (Lv4) </a:t>
                </a:r>
                <a:endParaRPr b="0" i="0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70"/>
              <p:cNvSpPr/>
              <p:nvPr/>
            </p:nvSpPr>
            <p:spPr>
              <a:xfrm>
                <a:off x="8205986" y="5367650"/>
                <a:ext cx="1243463" cy="284926"/>
              </a:xfrm>
              <a:prstGeom prst="rect">
                <a:avLst/>
              </a:prstGeom>
              <a:solidFill>
                <a:srgbClr val="D8E2F3"/>
              </a:soli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Pain Point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70"/>
              <p:cNvSpPr/>
              <p:nvPr/>
            </p:nvSpPr>
            <p:spPr>
              <a:xfrm>
                <a:off x="8291989" y="5809486"/>
                <a:ext cx="121927" cy="11941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36000" lIns="144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75"/>
          <p:cNvGrpSpPr/>
          <p:nvPr/>
        </p:nvGrpSpPr>
        <p:grpSpPr>
          <a:xfrm>
            <a:off x="809245" y="2241541"/>
            <a:ext cx="8254544" cy="1151759"/>
            <a:chOff x="809245" y="2241539"/>
            <a:chExt cx="8254544" cy="1151759"/>
          </a:xfrm>
        </p:grpSpPr>
        <p:sp>
          <p:nvSpPr>
            <p:cNvPr id="271" name="Google Shape;271;p75"/>
            <p:cNvSpPr txBox="1"/>
            <p:nvPr/>
          </p:nvSpPr>
          <p:spPr>
            <a:xfrm>
              <a:off x="809245" y="2241539"/>
              <a:ext cx="8254544" cy="1151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9675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ko-KR" sz="4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M4. 근본 원인 분석 및            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487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ko-KR" sz="4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    문제 해결 Ideation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75"/>
            <p:cNvSpPr txBox="1"/>
            <p:nvPr/>
          </p:nvSpPr>
          <p:spPr>
            <a:xfrm>
              <a:off x="809245" y="3024882"/>
              <a:ext cx="8254543" cy="297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9675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3"/>
          <p:cNvSpPr txBox="1"/>
          <p:nvPr/>
        </p:nvSpPr>
        <p:spPr>
          <a:xfrm>
            <a:off x="271077" y="550332"/>
            <a:ext cx="6139275" cy="572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[참고] </a:t>
            </a:r>
            <a:r>
              <a:rPr b="1" i="0" lang="ko-K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 산출물 예시 및 Template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3"/>
          <p:cNvSpPr txBox="1"/>
          <p:nvPr/>
        </p:nvSpPr>
        <p:spPr>
          <a:xfrm>
            <a:off x="271077" y="268320"/>
            <a:ext cx="3752283" cy="282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모듈 4. 근본 원인 분석 및 문제해결 Ideation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83"/>
          <p:cNvCxnSpPr/>
          <p:nvPr/>
        </p:nvCxnSpPr>
        <p:spPr>
          <a:xfrm>
            <a:off x="372769" y="589490"/>
            <a:ext cx="155631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0" name="Google Shape;280;p83"/>
          <p:cNvSpPr/>
          <p:nvPr/>
        </p:nvSpPr>
        <p:spPr>
          <a:xfrm>
            <a:off x="372769" y="2369495"/>
            <a:ext cx="147600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3"/>
          <p:cNvSpPr/>
          <p:nvPr/>
        </p:nvSpPr>
        <p:spPr>
          <a:xfrm>
            <a:off x="372769" y="3335664"/>
            <a:ext cx="147600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3"/>
          <p:cNvSpPr/>
          <p:nvPr/>
        </p:nvSpPr>
        <p:spPr>
          <a:xfrm>
            <a:off x="372769" y="4301832"/>
            <a:ext cx="147600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3"/>
          <p:cNvSpPr/>
          <p:nvPr/>
        </p:nvSpPr>
        <p:spPr>
          <a:xfrm>
            <a:off x="372769" y="5268001"/>
            <a:ext cx="1476000" cy="827999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3"/>
          <p:cNvSpPr/>
          <p:nvPr/>
        </p:nvSpPr>
        <p:spPr>
          <a:xfrm>
            <a:off x="372769" y="1528861"/>
            <a:ext cx="1476000" cy="434858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144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3"/>
          <p:cNvSpPr/>
          <p:nvPr/>
        </p:nvSpPr>
        <p:spPr>
          <a:xfrm>
            <a:off x="502260" y="1633080"/>
            <a:ext cx="205476" cy="201289"/>
          </a:xfrm>
          <a:prstGeom prst="foldedCorner">
            <a:avLst>
              <a:gd fmla="val 31696" name="adj"/>
            </a:avLst>
          </a:prstGeom>
          <a:solidFill>
            <a:srgbClr val="9DC3E6"/>
          </a:solidFill>
          <a:ln cap="flat" cmpd="sng" w="9525">
            <a:solidFill>
              <a:srgbClr val="203864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144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3"/>
          <p:cNvSpPr/>
          <p:nvPr/>
        </p:nvSpPr>
        <p:spPr>
          <a:xfrm>
            <a:off x="2059847" y="1528861"/>
            <a:ext cx="4176000" cy="434858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144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근본 원인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3"/>
          <p:cNvSpPr/>
          <p:nvPr/>
        </p:nvSpPr>
        <p:spPr>
          <a:xfrm>
            <a:off x="3051409" y="1633080"/>
            <a:ext cx="205476" cy="201289"/>
          </a:xfrm>
          <a:prstGeom prst="foldedCorner">
            <a:avLst>
              <a:gd fmla="val 31696" name="adj"/>
            </a:avLst>
          </a:prstGeom>
          <a:solidFill>
            <a:srgbClr val="FFCCFF"/>
          </a:solidFill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14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83"/>
          <p:cNvGrpSpPr/>
          <p:nvPr/>
        </p:nvGrpSpPr>
        <p:grpSpPr>
          <a:xfrm>
            <a:off x="2059847" y="4301832"/>
            <a:ext cx="2750579" cy="827999"/>
            <a:chOff x="2021994" y="4301832"/>
            <a:chExt cx="2750579" cy="827999"/>
          </a:xfrm>
        </p:grpSpPr>
        <p:sp>
          <p:nvSpPr>
            <p:cNvPr id="289" name="Google Shape;289;p83"/>
            <p:cNvSpPr/>
            <p:nvPr/>
          </p:nvSpPr>
          <p:spPr>
            <a:xfrm>
              <a:off x="2021994" y="4301832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83"/>
            <p:cNvSpPr/>
            <p:nvPr/>
          </p:nvSpPr>
          <p:spPr>
            <a:xfrm>
              <a:off x="3447413" y="4301832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83"/>
          <p:cNvGrpSpPr/>
          <p:nvPr/>
        </p:nvGrpSpPr>
        <p:grpSpPr>
          <a:xfrm>
            <a:off x="2059847" y="2369495"/>
            <a:ext cx="4176000" cy="827999"/>
            <a:chOff x="2021994" y="2369495"/>
            <a:chExt cx="4176000" cy="827999"/>
          </a:xfrm>
        </p:grpSpPr>
        <p:sp>
          <p:nvSpPr>
            <p:cNvPr id="292" name="Google Shape;292;p83"/>
            <p:cNvSpPr/>
            <p:nvPr/>
          </p:nvSpPr>
          <p:spPr>
            <a:xfrm>
              <a:off x="2021994" y="2369495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83"/>
            <p:cNvSpPr/>
            <p:nvPr/>
          </p:nvSpPr>
          <p:spPr>
            <a:xfrm>
              <a:off x="3447413" y="2369495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83"/>
            <p:cNvSpPr/>
            <p:nvPr/>
          </p:nvSpPr>
          <p:spPr>
            <a:xfrm>
              <a:off x="4872834" y="2369495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Google Shape;295;p83"/>
          <p:cNvGrpSpPr/>
          <p:nvPr/>
        </p:nvGrpSpPr>
        <p:grpSpPr>
          <a:xfrm>
            <a:off x="2059847" y="3335664"/>
            <a:ext cx="4176000" cy="827999"/>
            <a:chOff x="2021994" y="3335664"/>
            <a:chExt cx="4176000" cy="827999"/>
          </a:xfrm>
        </p:grpSpPr>
        <p:sp>
          <p:nvSpPr>
            <p:cNvPr id="296" name="Google Shape;296;p83"/>
            <p:cNvSpPr/>
            <p:nvPr/>
          </p:nvSpPr>
          <p:spPr>
            <a:xfrm>
              <a:off x="2021994" y="3335664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83"/>
            <p:cNvSpPr/>
            <p:nvPr/>
          </p:nvSpPr>
          <p:spPr>
            <a:xfrm>
              <a:off x="3447413" y="3335664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83"/>
            <p:cNvSpPr/>
            <p:nvPr/>
          </p:nvSpPr>
          <p:spPr>
            <a:xfrm>
              <a:off x="4872834" y="3335664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83"/>
          <p:cNvGrpSpPr/>
          <p:nvPr/>
        </p:nvGrpSpPr>
        <p:grpSpPr>
          <a:xfrm>
            <a:off x="2059847" y="5268001"/>
            <a:ext cx="4176000" cy="827999"/>
            <a:chOff x="2021994" y="5268001"/>
            <a:chExt cx="4176000" cy="827999"/>
          </a:xfrm>
        </p:grpSpPr>
        <p:sp>
          <p:nvSpPr>
            <p:cNvPr id="300" name="Google Shape;300;p83"/>
            <p:cNvSpPr/>
            <p:nvPr/>
          </p:nvSpPr>
          <p:spPr>
            <a:xfrm>
              <a:off x="2021994" y="5268001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83"/>
            <p:cNvSpPr/>
            <p:nvPr/>
          </p:nvSpPr>
          <p:spPr>
            <a:xfrm>
              <a:off x="3447413" y="5268001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83"/>
            <p:cNvSpPr/>
            <p:nvPr/>
          </p:nvSpPr>
          <p:spPr>
            <a:xfrm>
              <a:off x="4872834" y="5268001"/>
              <a:ext cx="1325160" cy="827999"/>
            </a:xfrm>
            <a:prstGeom prst="rect">
              <a:avLst/>
            </a:prstGeom>
            <a:solidFill>
              <a:srgbClr val="FFCCFF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83"/>
          <p:cNvSpPr/>
          <p:nvPr/>
        </p:nvSpPr>
        <p:spPr>
          <a:xfrm>
            <a:off x="6446924" y="1528861"/>
            <a:ext cx="3186025" cy="434858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144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해결 아이디어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3"/>
          <p:cNvSpPr/>
          <p:nvPr/>
        </p:nvSpPr>
        <p:spPr>
          <a:xfrm>
            <a:off x="7202925" y="1633080"/>
            <a:ext cx="205476" cy="201289"/>
          </a:xfrm>
          <a:prstGeom prst="foldedCorner">
            <a:avLst>
              <a:gd fmla="val 31696" name="adj"/>
            </a:avLst>
          </a:prstGeom>
          <a:solidFill>
            <a:srgbClr val="FFFF00"/>
          </a:solidFill>
          <a:ln cap="flat" cmpd="sng" w="9525">
            <a:solidFill>
              <a:srgbClr val="203864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144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83"/>
          <p:cNvGrpSpPr/>
          <p:nvPr/>
        </p:nvGrpSpPr>
        <p:grpSpPr>
          <a:xfrm>
            <a:off x="6446925" y="2369495"/>
            <a:ext cx="1512000" cy="3726505"/>
            <a:chOff x="6410352" y="2369495"/>
            <a:chExt cx="1512000" cy="3726505"/>
          </a:xfrm>
        </p:grpSpPr>
        <p:sp>
          <p:nvSpPr>
            <p:cNvPr id="306" name="Google Shape;306;p83"/>
            <p:cNvSpPr/>
            <p:nvPr/>
          </p:nvSpPr>
          <p:spPr>
            <a:xfrm>
              <a:off x="6410352" y="4301832"/>
              <a:ext cx="1512000" cy="827999"/>
            </a:xfrm>
            <a:prstGeom prst="rect">
              <a:avLst/>
            </a:prstGeom>
            <a:solidFill>
              <a:srgbClr val="FEE599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83"/>
            <p:cNvSpPr/>
            <p:nvPr/>
          </p:nvSpPr>
          <p:spPr>
            <a:xfrm>
              <a:off x="6410352" y="2369495"/>
              <a:ext cx="1512000" cy="827999"/>
            </a:xfrm>
            <a:prstGeom prst="rect">
              <a:avLst/>
            </a:prstGeom>
            <a:solidFill>
              <a:srgbClr val="FEE599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83"/>
            <p:cNvSpPr/>
            <p:nvPr/>
          </p:nvSpPr>
          <p:spPr>
            <a:xfrm>
              <a:off x="6410352" y="3335664"/>
              <a:ext cx="1512000" cy="827999"/>
            </a:xfrm>
            <a:prstGeom prst="rect">
              <a:avLst/>
            </a:prstGeom>
            <a:solidFill>
              <a:srgbClr val="FEE599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83"/>
            <p:cNvSpPr/>
            <p:nvPr/>
          </p:nvSpPr>
          <p:spPr>
            <a:xfrm>
              <a:off x="6410352" y="5268001"/>
              <a:ext cx="1512000" cy="827999"/>
            </a:xfrm>
            <a:prstGeom prst="rect">
              <a:avLst/>
            </a:prstGeom>
            <a:solidFill>
              <a:srgbClr val="FEE599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" name="Google Shape;310;p83"/>
          <p:cNvGrpSpPr/>
          <p:nvPr/>
        </p:nvGrpSpPr>
        <p:grpSpPr>
          <a:xfrm>
            <a:off x="8080383" y="2369495"/>
            <a:ext cx="1512000" cy="3726505"/>
            <a:chOff x="8080383" y="2369495"/>
            <a:chExt cx="1512000" cy="3726505"/>
          </a:xfrm>
        </p:grpSpPr>
        <p:sp>
          <p:nvSpPr>
            <p:cNvPr id="311" name="Google Shape;311;p83"/>
            <p:cNvSpPr/>
            <p:nvPr/>
          </p:nvSpPr>
          <p:spPr>
            <a:xfrm>
              <a:off x="8080383" y="2369495"/>
              <a:ext cx="1512000" cy="827999"/>
            </a:xfrm>
            <a:prstGeom prst="rect">
              <a:avLst/>
            </a:prstGeom>
            <a:solidFill>
              <a:srgbClr val="FEE599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83"/>
            <p:cNvSpPr/>
            <p:nvPr/>
          </p:nvSpPr>
          <p:spPr>
            <a:xfrm>
              <a:off x="8080383" y="3335664"/>
              <a:ext cx="1512000" cy="827999"/>
            </a:xfrm>
            <a:prstGeom prst="rect">
              <a:avLst/>
            </a:prstGeom>
            <a:solidFill>
              <a:srgbClr val="FEE599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83"/>
            <p:cNvSpPr/>
            <p:nvPr/>
          </p:nvSpPr>
          <p:spPr>
            <a:xfrm>
              <a:off x="8080383" y="5268001"/>
              <a:ext cx="1512000" cy="827999"/>
            </a:xfrm>
            <a:prstGeom prst="rect">
              <a:avLst/>
            </a:prstGeom>
            <a:solidFill>
              <a:srgbClr val="FEE599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9"/>
          <p:cNvSpPr txBox="1"/>
          <p:nvPr/>
        </p:nvSpPr>
        <p:spPr>
          <a:xfrm>
            <a:off x="809245" y="2241541"/>
            <a:ext cx="8254544" cy="564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67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M5. 적정성 검토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0"/>
          <p:cNvSpPr txBox="1"/>
          <p:nvPr/>
        </p:nvSpPr>
        <p:spPr>
          <a:xfrm>
            <a:off x="271077" y="550332"/>
            <a:ext cx="4999501" cy="572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적정성 체크리스트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0"/>
          <p:cNvSpPr txBox="1"/>
          <p:nvPr/>
        </p:nvSpPr>
        <p:spPr>
          <a:xfrm>
            <a:off x="271077" y="268320"/>
            <a:ext cx="3752283" cy="282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모듈 5. 적정성 검토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90"/>
          <p:cNvCxnSpPr/>
          <p:nvPr/>
        </p:nvCxnSpPr>
        <p:spPr>
          <a:xfrm>
            <a:off x="372769" y="589490"/>
            <a:ext cx="155631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6" name="Google Shape;326;p90"/>
          <p:cNvSpPr/>
          <p:nvPr/>
        </p:nvSpPr>
        <p:spPr>
          <a:xfrm>
            <a:off x="8927806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0"/>
          <p:cNvSpPr/>
          <p:nvPr/>
        </p:nvSpPr>
        <p:spPr>
          <a:xfrm>
            <a:off x="9172379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0"/>
          <p:cNvSpPr/>
          <p:nvPr/>
        </p:nvSpPr>
        <p:spPr>
          <a:xfrm>
            <a:off x="9416950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0"/>
          <p:cNvSpPr/>
          <p:nvPr/>
        </p:nvSpPr>
        <p:spPr>
          <a:xfrm>
            <a:off x="8683233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0"/>
          <p:cNvSpPr/>
          <p:nvPr/>
        </p:nvSpPr>
        <p:spPr>
          <a:xfrm>
            <a:off x="7949514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0"/>
          <p:cNvSpPr/>
          <p:nvPr/>
        </p:nvSpPr>
        <p:spPr>
          <a:xfrm>
            <a:off x="8194087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0"/>
          <p:cNvSpPr/>
          <p:nvPr/>
        </p:nvSpPr>
        <p:spPr>
          <a:xfrm>
            <a:off x="8438660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0"/>
          <p:cNvSpPr/>
          <p:nvPr/>
        </p:nvSpPr>
        <p:spPr>
          <a:xfrm>
            <a:off x="7704941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0"/>
          <p:cNvSpPr/>
          <p:nvPr/>
        </p:nvSpPr>
        <p:spPr>
          <a:xfrm>
            <a:off x="7460368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0"/>
          <p:cNvSpPr txBox="1"/>
          <p:nvPr/>
        </p:nvSpPr>
        <p:spPr>
          <a:xfrm>
            <a:off x="433584" y="6296382"/>
            <a:ext cx="449484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*수익성 단위 및 규모는 기업 규모/산업별 차이에 따라 조정될 수 있음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6" name="Google Shape;336;p90"/>
          <p:cNvGraphicFramePr/>
          <p:nvPr/>
        </p:nvGraphicFramePr>
        <p:xfrm>
          <a:off x="307976" y="15604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{F58BAB03-6B21-42F1-9DD4-E3E6314A7C85}</a:tableStyleId>
              </a:tblPr>
              <a:tblGrid>
                <a:gridCol w="510225"/>
                <a:gridCol w="1124525"/>
                <a:gridCol w="5088000"/>
                <a:gridCol w="1283650"/>
                <a:gridCol w="1283650"/>
              </a:tblGrid>
              <a:tr h="331550"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평가 기준</a:t>
                      </a:r>
                      <a:endParaRPr b="1" i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 rowSpan="2"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질문</a:t>
                      </a:r>
                      <a:endParaRPr sz="1400" u="none" cap="none" strike="noStrike"/>
                    </a:p>
                  </a:txBody>
                  <a:tcPr marT="4825" marB="0" marR="4825" marL="48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후보 AI 과제</a:t>
                      </a:r>
                      <a:endParaRPr sz="1400" u="none" cap="none" strike="noStrike"/>
                    </a:p>
                  </a:txBody>
                  <a:tcPr marT="4825" marB="0" marR="4825" marL="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 hMerge="1"/>
              </a:tr>
              <a:tr h="220600">
                <a:tc gridSpan="2" vMerge="1"/>
                <a:tc hMerge="1"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후보 AI 과제 1</a:t>
                      </a:r>
                      <a:endParaRPr b="1" i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38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후보 AI 과제 2</a:t>
                      </a:r>
                      <a:endParaRPr b="1" i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3838"/>
                    </a:solidFill>
                  </a:tcPr>
                </a:tc>
              </a:tr>
              <a:tr h="530500"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전략적 중요도 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ko-KR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(Strategic Need)</a:t>
                      </a:r>
                      <a:endParaRPr sz="1400" u="none" cap="none" strike="noStrike"/>
                    </a:p>
                  </a:txBody>
                  <a:tcPr marT="4825" marB="0" marR="4825" marL="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2"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 본원적 경쟁력</a:t>
                      </a:r>
                      <a:b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해당 Agent는 </a:t>
                      </a:r>
                      <a:r>
                        <a:rPr b="0" lang="ko-KR" sz="1200" u="none" cap="none" strike="noStrike">
                          <a:solidFill>
                            <a:srgbClr val="833C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조직 본원적 활동(핵심 사업)과 연계성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 깊은가?</a:t>
                      </a:r>
                      <a:endParaRPr sz="1400" u="none" cap="none" strike="noStrike"/>
                    </a:p>
                  </a:txBody>
                  <a:tcPr marT="4825" marB="0" marR="4825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5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② 사업전략, 목표, KPI</a:t>
                      </a:r>
                      <a:b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Agent는 당해 </a:t>
                      </a:r>
                      <a:r>
                        <a:rPr b="0" lang="ko-KR" sz="1200" u="none" cap="none" strike="noStrike">
                          <a:solidFill>
                            <a:srgbClr val="833C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 전략, 목표, KPI 에 비추어  연계성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 높은 Agent인가?</a:t>
                      </a:r>
                      <a:endParaRPr sz="1400" u="none" cap="none" strike="noStrike"/>
                    </a:p>
                  </a:txBody>
                  <a:tcPr marT="4825" marB="0" marR="4825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5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비즈니스 성과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수익성</a:t>
                      </a:r>
                      <a:b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ko-KR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(Profitability)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 [수익성] - 규모</a:t>
                      </a:r>
                      <a:b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Agent를 통해 </a:t>
                      </a:r>
                      <a:r>
                        <a:rPr b="0" lang="ko-KR" sz="1200" u="none" cap="none" strike="noStrike">
                          <a:solidFill>
                            <a:srgbClr val="833C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비용 절감 또는 매출/ 효율 향상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 가능한가?</a:t>
                      </a:r>
                      <a:endParaRPr sz="1400" u="none" cap="none" strike="noStrike"/>
                    </a:p>
                  </a:txBody>
                  <a:tcPr marT="4825" marB="0" marR="4825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50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② [수익성] - 수혜조직 규모/범위</a:t>
                      </a:r>
                      <a:b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Agent 추진 시 </a:t>
                      </a:r>
                      <a:r>
                        <a:rPr b="0" lang="ko-KR" sz="1200" u="none" cap="none" strike="noStrike">
                          <a:solidFill>
                            <a:srgbClr val="833C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수혜 조직의 규모/범위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는 얼마나 되는가?</a:t>
                      </a:r>
                      <a:endParaRPr sz="1400" u="none" cap="none" strike="noStrike"/>
                    </a:p>
                  </a:txBody>
                  <a:tcPr marT="4825" marB="0" marR="4825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확장성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ko-KR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(Scalability)</a:t>
                      </a:r>
                      <a:endParaRPr sz="1400" u="none" cap="none" strike="noStrike"/>
                    </a:p>
                  </a:txBody>
                  <a:tcPr marT="4825" marB="0" marR="4825" marL="48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Agent는 향후 다른 유사 공정/상황으로 </a:t>
                      </a:r>
                      <a:r>
                        <a:rPr b="0" lang="ko-KR" sz="1200" u="none" cap="none" strike="noStrike">
                          <a:solidFill>
                            <a:srgbClr val="833C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수평 전개/ 고도화 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가능한가?</a:t>
                      </a:r>
                      <a:endParaRPr sz="1400" u="none" cap="none" strike="noStrike"/>
                    </a:p>
                  </a:txBody>
                  <a:tcPr marT="4825" marB="0" marR="4825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시급성</a:t>
                      </a:r>
                      <a:b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ko-KR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(Urgency)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Agent 추진이 늦어질 경우 </a:t>
                      </a:r>
                      <a:r>
                        <a:rPr b="0" lang="ko-KR" sz="1200" u="none" cap="none" strike="noStrike">
                          <a:solidFill>
                            <a:srgbClr val="833C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리스크가 발생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하는가? </a:t>
                      </a:r>
                      <a:b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(법 규제 등 고려, 조직적 위험/손실 여부 판단)</a:t>
                      </a:r>
                      <a:endParaRPr sz="1400" u="none" cap="none" strike="noStrike"/>
                    </a:p>
                  </a:txBody>
                  <a:tcPr marT="4825" marB="0" marR="4825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5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실행 용이성 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ko-KR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(Difficulty)</a:t>
                      </a:r>
                      <a:endParaRPr sz="1400" u="none" cap="none" strike="noStrike"/>
                    </a:p>
                  </a:txBody>
                  <a:tcPr marT="4825" marB="0" marR="4825" marL="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Agent 추진을 위한 데이터가 충분히 준비되어 있거나,</a:t>
                      </a:r>
                      <a:b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준비 </a:t>
                      </a:r>
                      <a:r>
                        <a:rPr b="0" lang="ko-KR" sz="1200" u="none" cap="none" strike="noStrike">
                          <a:solidFill>
                            <a:srgbClr val="833C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계획이 구체적이고 실현가능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한가?</a:t>
                      </a:r>
                      <a:endParaRPr sz="1400" u="none" cap="none" strike="noStrike"/>
                    </a:p>
                  </a:txBody>
                  <a:tcPr marT="4825" marB="0" marR="4825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1---2---3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3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84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총점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_____ /21</a:t>
                      </a:r>
                      <a:endParaRPr sz="1400" u="none" cap="none" strike="noStrike"/>
                    </a:p>
                  </a:txBody>
                  <a:tcPr marT="4825" marB="0" marR="4825" marL="3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_____ /21</a:t>
                      </a:r>
                      <a:endParaRPr sz="1400" u="none" cap="none" strike="noStrike"/>
                    </a:p>
                  </a:txBody>
                  <a:tcPr marT="4825" marB="0" marR="4825" marL="3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37" name="Google Shape;337;p90"/>
          <p:cNvSpPr txBox="1"/>
          <p:nvPr/>
        </p:nvSpPr>
        <p:spPr>
          <a:xfrm>
            <a:off x="495301" y="1219221"/>
            <a:ext cx="8312750" cy="77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선정한 후보 AI 과제 관련, </a:t>
            </a:r>
            <a:r>
              <a:rPr b="0" i="0" lang="ko-KR" sz="1200" u="none" cap="none" strike="noStrike">
                <a:solidFill>
                  <a:srgbClr val="833C0B"/>
                </a:solidFill>
                <a:latin typeface="Arial"/>
                <a:ea typeface="Arial"/>
                <a:cs typeface="Arial"/>
                <a:sym typeface="Arial"/>
              </a:rPr>
              <a:t>7개 항목에 대한 적정성 검토 </a:t>
            </a: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질문입니다. 각 문항별로 3점 척도로 표기하세요.(개인별 작성)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텍스트, 폰트, 그래픽, 스크린샷이(가) 표시된 사진&#10;&#10;AI가 생성한 콘텐츠는 부정확할 수 있습니다." id="342" name="Google Shape;342;p120"/>
          <p:cNvPicPr preferRelativeResize="0"/>
          <p:nvPr/>
        </p:nvPicPr>
        <p:blipFill rotWithShape="1">
          <a:blip r:embed="rId3">
            <a:alphaModFix/>
          </a:blip>
          <a:srcRect b="2060" l="0" r="0" t="78994"/>
          <a:stretch/>
        </p:blipFill>
        <p:spPr>
          <a:xfrm>
            <a:off x="664662" y="4906387"/>
            <a:ext cx="5135629" cy="78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" name="Google Shape;343;p120"/>
          <p:cNvGrpSpPr/>
          <p:nvPr/>
        </p:nvGrpSpPr>
        <p:grpSpPr>
          <a:xfrm>
            <a:off x="664662" y="1329040"/>
            <a:ext cx="9241200" cy="2495177"/>
            <a:chOff x="664662" y="1329040"/>
            <a:chExt cx="9241200" cy="2495177"/>
          </a:xfrm>
        </p:grpSpPr>
        <p:sp>
          <p:nvSpPr>
            <p:cNvPr id="344" name="Google Shape;344;p120"/>
            <p:cNvSpPr txBox="1"/>
            <p:nvPr/>
          </p:nvSpPr>
          <p:spPr>
            <a:xfrm>
              <a:off x="664662" y="2263317"/>
              <a:ext cx="9241200" cy="156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 fontScale="92500" lnSpcReduction="10000"/>
            </a:bodyPr>
            <a:lstStyle/>
            <a:p>
              <a:pPr indent="0" lvl="0" marL="857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100000"/>
                <a:buFont typeface="Arial"/>
                <a:buNone/>
              </a:pPr>
              <a:br>
                <a:rPr b="1" i="0" lang="ko-KR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4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New AI Design Camp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857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100000"/>
                <a:buFont typeface="Malgun Gothic"/>
                <a:buNone/>
              </a:pPr>
              <a:r>
                <a:t/>
              </a:r>
              <a:endParaRPr b="1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857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100000"/>
                <a:buFont typeface="Arial"/>
                <a:buNone/>
              </a:pPr>
              <a:r>
                <a:rPr b="0" i="0" lang="ko-KR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Day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20"/>
            <p:cNvSpPr txBox="1"/>
            <p:nvPr/>
          </p:nvSpPr>
          <p:spPr>
            <a:xfrm>
              <a:off x="664662" y="1329040"/>
              <a:ext cx="2424900" cy="128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857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33"/>
                </a:buClr>
                <a:buSzPts val="2800"/>
                <a:buFont typeface="Arial"/>
                <a:buNone/>
              </a:pPr>
              <a:r>
                <a:rPr b="0" i="0" lang="ko-KR" sz="2800" u="none" cap="none" strike="noStrike">
                  <a:solidFill>
                    <a:srgbClr val="FF9933"/>
                  </a:solidFill>
                  <a:latin typeface="Arial"/>
                  <a:ea typeface="Arial"/>
                  <a:cs typeface="Arial"/>
                  <a:sym typeface="Arial"/>
                </a:rPr>
                <a:t>2026 SKHY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46" name="Google Shape;346;p120"/>
          <p:cNvCxnSpPr/>
          <p:nvPr/>
        </p:nvCxnSpPr>
        <p:spPr>
          <a:xfrm>
            <a:off x="846667" y="3234268"/>
            <a:ext cx="2820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g3e2a51cd512_0_1"/>
          <p:cNvGrpSpPr/>
          <p:nvPr/>
        </p:nvGrpSpPr>
        <p:grpSpPr>
          <a:xfrm>
            <a:off x="809244" y="2241541"/>
            <a:ext cx="8254501" cy="1074943"/>
            <a:chOff x="809244" y="2241539"/>
            <a:chExt cx="8254501" cy="1074943"/>
          </a:xfrm>
        </p:grpSpPr>
        <p:sp>
          <p:nvSpPr>
            <p:cNvPr id="352" name="Google Shape;352;g3e2a51cd512_0_1"/>
            <p:cNvSpPr txBox="1"/>
            <p:nvPr/>
          </p:nvSpPr>
          <p:spPr>
            <a:xfrm>
              <a:off x="809244" y="2241539"/>
              <a:ext cx="8254500" cy="55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9675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ko-KR" sz="4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M6. AI 과제 정의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e2a51cd512_0_1"/>
            <p:cNvSpPr txBox="1"/>
            <p:nvPr/>
          </p:nvSpPr>
          <p:spPr>
            <a:xfrm>
              <a:off x="809245" y="3024882"/>
              <a:ext cx="8254500" cy="2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9675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a51cd512_0_8"/>
          <p:cNvSpPr txBox="1"/>
          <p:nvPr/>
        </p:nvSpPr>
        <p:spPr>
          <a:xfrm>
            <a:off x="307605" y="65700"/>
            <a:ext cx="591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[참고] AI 과제 정의서 작성_Template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e2a51cd512_0_8"/>
          <p:cNvSpPr/>
          <p:nvPr/>
        </p:nvSpPr>
        <p:spPr>
          <a:xfrm>
            <a:off x="8927805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2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e2a51cd512_0_8"/>
          <p:cNvSpPr/>
          <p:nvPr/>
        </p:nvSpPr>
        <p:spPr>
          <a:xfrm>
            <a:off x="9172378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2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e2a51cd512_0_8"/>
          <p:cNvSpPr/>
          <p:nvPr/>
        </p:nvSpPr>
        <p:spPr>
          <a:xfrm>
            <a:off x="9416950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2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g3e2a51cd512_0_8"/>
          <p:cNvGrpSpPr/>
          <p:nvPr/>
        </p:nvGrpSpPr>
        <p:grpSpPr>
          <a:xfrm rot="1559911">
            <a:off x="8338816" y="646188"/>
            <a:ext cx="1250734" cy="363662"/>
            <a:chOff x="5331549" y="-53155"/>
            <a:chExt cx="1375800" cy="400026"/>
          </a:xfrm>
        </p:grpSpPr>
        <p:sp>
          <p:nvSpPr>
            <p:cNvPr id="363" name="Google Shape;363;g3e2a51cd512_0_8"/>
            <p:cNvSpPr/>
            <p:nvPr/>
          </p:nvSpPr>
          <p:spPr>
            <a:xfrm>
              <a:off x="5331549" y="-53155"/>
              <a:ext cx="1375800" cy="399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Template</a:t>
              </a:r>
              <a:endParaRPr b="1" i="0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4" name="Google Shape;364;g3e2a51cd512_0_8"/>
            <p:cNvCxnSpPr/>
            <p:nvPr/>
          </p:nvCxnSpPr>
          <p:spPr>
            <a:xfrm>
              <a:off x="5331549" y="322204"/>
              <a:ext cx="137580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g3e2a51cd512_0_8"/>
            <p:cNvCxnSpPr/>
            <p:nvPr/>
          </p:nvCxnSpPr>
          <p:spPr>
            <a:xfrm>
              <a:off x="5331549" y="346871"/>
              <a:ext cx="137580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g3e2a51cd512_0_8"/>
            <p:cNvCxnSpPr/>
            <p:nvPr/>
          </p:nvCxnSpPr>
          <p:spPr>
            <a:xfrm>
              <a:off x="5331549" y="-53155"/>
              <a:ext cx="137580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g3e2a51cd512_0_8"/>
            <p:cNvCxnSpPr/>
            <p:nvPr/>
          </p:nvCxnSpPr>
          <p:spPr>
            <a:xfrm>
              <a:off x="5331549" y="-28488"/>
              <a:ext cx="137580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aphicFrame>
        <p:nvGraphicFramePr>
          <p:cNvPr id="368" name="Google Shape;368;g3e2a51cd512_0_8"/>
          <p:cNvGraphicFramePr/>
          <p:nvPr/>
        </p:nvGraphicFramePr>
        <p:xfrm>
          <a:off x="365760" y="6184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{74D358D2-6C71-4418-A4F1-CD2C1D065E0F}</a:tableStyleId>
              </a:tblPr>
              <a:tblGrid>
                <a:gridCol w="1201425"/>
                <a:gridCol w="1225200"/>
                <a:gridCol w="1149375"/>
                <a:gridCol w="1149375"/>
                <a:gridCol w="1843800"/>
                <a:gridCol w="1013700"/>
                <a:gridCol w="1684325"/>
              </a:tblGrid>
              <a:tr h="42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과제명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42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□ Marketing  </a:t>
                      </a:r>
                      <a:b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■ Production</a:t>
                      </a:r>
                      <a:endParaRPr sz="1400" u="none" cap="none" strike="noStrike"/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□ R&amp;D             □ Support</a:t>
                      </a:r>
                      <a:endParaRPr sz="1400" u="none" cap="none" strike="noStrike"/>
                    </a:p>
                  </a:txBody>
                  <a:tcPr marT="45725" marB="45725" marR="99050" marL="990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Champion (담당 임원)</a:t>
                      </a:r>
                      <a:endParaRPr sz="1400" u="none" cap="none" strike="noStrike"/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 조직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9" name="Google Shape;369;g3e2a51cd512_0_8"/>
          <p:cNvGraphicFramePr/>
          <p:nvPr/>
        </p:nvGraphicFramePr>
        <p:xfrm>
          <a:off x="365760" y="15973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{74D358D2-6C71-4418-A4F1-CD2C1D065E0F}</a:tableStyleId>
              </a:tblPr>
              <a:tblGrid>
                <a:gridCol w="964800"/>
                <a:gridCol w="1142075"/>
                <a:gridCol w="3580150"/>
                <a:gridCol w="3580150"/>
              </a:tblGrid>
              <a:tr h="3029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상세내역</a:t>
                      </a:r>
                      <a:endParaRPr sz="1400" u="none" cap="none" strike="noStrike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 hMerge="1"/>
                <a:tc hMerge="1"/>
                <a:tc hMerge="1"/>
              </a:tr>
              <a:tr h="3386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업무 목표 (부문/팀)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highlight>
                          <a:srgbClr val="D8E5F1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-22225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72000" marL="72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6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부문/본부 핵심 업무 구조화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-22225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72000" marL="72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331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추진 배경</a:t>
                      </a:r>
                      <a:b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(Pain Point)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-2381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72000" marL="72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797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근본원인</a:t>
                      </a: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highlight>
                          <a:srgbClr val="D8E5F1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ko-KR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(Big Why)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-2381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72000" marL="72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877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AI Agent </a:t>
                      </a:r>
                      <a:endParaRPr sz="1400" u="none" cap="none" strike="noStrike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대상 업무 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-22225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72000" marL="72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624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요구 사항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highlight>
                          <a:srgbClr val="D8E5F1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-2381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72000" marL="72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142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적용 범위</a:t>
                      </a:r>
                      <a:endParaRPr sz="1400" u="none" cap="none" strike="noStrike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-2381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72000" marL="72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33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highlight>
                            <a:srgbClr val="D8E5F1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기대 효과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highlight>
                          <a:srgbClr val="D8E5F1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-1016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72000" marL="72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16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72000" marL="72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4"/>
          <p:cNvSpPr txBox="1"/>
          <p:nvPr/>
        </p:nvSpPr>
        <p:spPr>
          <a:xfrm>
            <a:off x="809245" y="2241541"/>
            <a:ext cx="8254544" cy="564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67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M7. As-Is 업무 프로세스 정의 </a:t>
            </a:r>
            <a:endParaRPr b="1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0"/>
          <p:cNvSpPr txBox="1"/>
          <p:nvPr/>
        </p:nvSpPr>
        <p:spPr>
          <a:xfrm>
            <a:off x="262467" y="115769"/>
            <a:ext cx="5785907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[참고] As-Is 업무 프로세스 정의서 작성_Template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130"/>
          <p:cNvGrpSpPr/>
          <p:nvPr/>
        </p:nvGrpSpPr>
        <p:grpSpPr>
          <a:xfrm>
            <a:off x="307976" y="864022"/>
            <a:ext cx="9326302" cy="5376758"/>
            <a:chOff x="307976" y="864022"/>
            <a:chExt cx="9326302" cy="5079021"/>
          </a:xfrm>
        </p:grpSpPr>
        <p:sp>
          <p:nvSpPr>
            <p:cNvPr id="381" name="Google Shape;381;p130"/>
            <p:cNvSpPr/>
            <p:nvPr/>
          </p:nvSpPr>
          <p:spPr>
            <a:xfrm>
              <a:off x="1614642" y="1669640"/>
              <a:ext cx="6690302" cy="380551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30"/>
            <p:cNvSpPr/>
            <p:nvPr/>
          </p:nvSpPr>
          <p:spPr>
            <a:xfrm>
              <a:off x="314769" y="1314355"/>
              <a:ext cx="1313940" cy="37672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선행 Work/Event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0"/>
            <p:cNvSpPr/>
            <p:nvPr/>
          </p:nvSpPr>
          <p:spPr>
            <a:xfrm>
              <a:off x="1628711" y="1314356"/>
              <a:ext cx="6690302" cy="35181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Activity Flow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0"/>
            <p:cNvSpPr/>
            <p:nvPr/>
          </p:nvSpPr>
          <p:spPr>
            <a:xfrm>
              <a:off x="8319012" y="1314355"/>
              <a:ext cx="1313940" cy="37672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후행 Work/Event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30"/>
            <p:cNvSpPr/>
            <p:nvPr/>
          </p:nvSpPr>
          <p:spPr>
            <a:xfrm>
              <a:off x="314769" y="1668688"/>
              <a:ext cx="1313940" cy="380551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Process 정의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0"/>
            <p:cNvSpPr/>
            <p:nvPr/>
          </p:nvSpPr>
          <p:spPr>
            <a:xfrm>
              <a:off x="8304944" y="1668688"/>
              <a:ext cx="1328008" cy="380551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Process 정의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0"/>
            <p:cNvSpPr/>
            <p:nvPr/>
          </p:nvSpPr>
          <p:spPr>
            <a:xfrm>
              <a:off x="307976" y="5583043"/>
              <a:ext cx="1313940" cy="360000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제약 사항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0"/>
            <p:cNvSpPr/>
            <p:nvPr/>
          </p:nvSpPr>
          <p:spPr>
            <a:xfrm>
              <a:off x="1621917" y="5583043"/>
              <a:ext cx="8011035" cy="3600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10160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30"/>
            <p:cNvSpPr/>
            <p:nvPr/>
          </p:nvSpPr>
          <p:spPr>
            <a:xfrm>
              <a:off x="309302" y="864022"/>
              <a:ext cx="1313940" cy="360000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Process 정의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0"/>
            <p:cNvSpPr/>
            <p:nvPr/>
          </p:nvSpPr>
          <p:spPr>
            <a:xfrm>
              <a:off x="1623243" y="864022"/>
              <a:ext cx="8011035" cy="3600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130"/>
          <p:cNvGrpSpPr/>
          <p:nvPr/>
        </p:nvGrpSpPr>
        <p:grpSpPr>
          <a:xfrm>
            <a:off x="2072972" y="2211540"/>
            <a:ext cx="993912" cy="825980"/>
            <a:chOff x="2083904" y="2603020"/>
            <a:chExt cx="993912" cy="825980"/>
          </a:xfrm>
        </p:grpSpPr>
        <p:sp>
          <p:nvSpPr>
            <p:cNvPr id="392" name="Google Shape;392;p130"/>
            <p:cNvSpPr/>
            <p:nvPr/>
          </p:nvSpPr>
          <p:spPr>
            <a:xfrm>
              <a:off x="2083904" y="2603020"/>
              <a:ext cx="278296" cy="18553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30"/>
            <p:cNvSpPr/>
            <p:nvPr/>
          </p:nvSpPr>
          <p:spPr>
            <a:xfrm>
              <a:off x="2362199" y="2603020"/>
              <a:ext cx="715617" cy="18553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30"/>
            <p:cNvSpPr/>
            <p:nvPr/>
          </p:nvSpPr>
          <p:spPr>
            <a:xfrm>
              <a:off x="2083904" y="2787364"/>
              <a:ext cx="993912" cy="44727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30"/>
            <p:cNvSpPr/>
            <p:nvPr/>
          </p:nvSpPr>
          <p:spPr>
            <a:xfrm>
              <a:off x="2083904" y="3236981"/>
              <a:ext cx="993912" cy="19201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6" name="Google Shape;396;p130"/>
          <p:cNvSpPr/>
          <p:nvPr/>
        </p:nvSpPr>
        <p:spPr>
          <a:xfrm>
            <a:off x="2097499" y="3509260"/>
            <a:ext cx="982980" cy="739140"/>
          </a:xfrm>
          <a:custGeom>
            <a:rect b="b" l="l" r="r" t="t"/>
            <a:pathLst>
              <a:path extrusionOk="0" h="739140" w="982980">
                <a:moveTo>
                  <a:pt x="0" y="373380"/>
                </a:moveTo>
                <a:lnTo>
                  <a:pt x="487680" y="0"/>
                </a:lnTo>
                <a:lnTo>
                  <a:pt x="982980" y="373380"/>
                </a:lnTo>
                <a:lnTo>
                  <a:pt x="480060" y="739140"/>
                </a:lnTo>
                <a:lnTo>
                  <a:pt x="0" y="37338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0"/>
          <p:cNvSpPr/>
          <p:nvPr/>
        </p:nvSpPr>
        <p:spPr>
          <a:xfrm>
            <a:off x="3445031" y="2244289"/>
            <a:ext cx="835454" cy="80307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0"/>
          <p:cNvSpPr/>
          <p:nvPr/>
        </p:nvSpPr>
        <p:spPr>
          <a:xfrm>
            <a:off x="4418286" y="2238820"/>
            <a:ext cx="835454" cy="803076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130"/>
          <p:cNvCxnSpPr/>
          <p:nvPr/>
        </p:nvCxnSpPr>
        <p:spPr>
          <a:xfrm>
            <a:off x="5900286" y="2395884"/>
            <a:ext cx="156891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lg" w="lg" type="triangle"/>
          </a:ln>
        </p:spPr>
      </p:cxnSp>
      <p:cxnSp>
        <p:nvCxnSpPr>
          <p:cNvPr id="400" name="Google Shape;400;p130"/>
          <p:cNvCxnSpPr/>
          <p:nvPr/>
        </p:nvCxnSpPr>
        <p:spPr>
          <a:xfrm>
            <a:off x="5900286" y="2640358"/>
            <a:ext cx="156891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lg" w="lg" type="triangle"/>
          </a:ln>
        </p:spPr>
      </p:cxnSp>
      <p:cxnSp>
        <p:nvCxnSpPr>
          <p:cNvPr id="401" name="Google Shape;401;p130"/>
          <p:cNvCxnSpPr/>
          <p:nvPr/>
        </p:nvCxnSpPr>
        <p:spPr>
          <a:xfrm>
            <a:off x="5900286" y="2884832"/>
            <a:ext cx="156891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1"/>
          <p:cNvSpPr txBox="1"/>
          <p:nvPr/>
        </p:nvSpPr>
        <p:spPr>
          <a:xfrm>
            <a:off x="262467" y="115769"/>
            <a:ext cx="5785907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[참고] As-Is 업무 프로세스 정의서 작성_Template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1"/>
          <p:cNvSpPr/>
          <p:nvPr/>
        </p:nvSpPr>
        <p:spPr>
          <a:xfrm>
            <a:off x="309302" y="864022"/>
            <a:ext cx="1313940" cy="360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 정의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1"/>
          <p:cNvSpPr/>
          <p:nvPr/>
        </p:nvSpPr>
        <p:spPr>
          <a:xfrm>
            <a:off x="1623243" y="864022"/>
            <a:ext cx="8011035" cy="360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9" name="Google Shape;409;p131"/>
          <p:cNvGraphicFramePr/>
          <p:nvPr/>
        </p:nvGraphicFramePr>
        <p:xfrm>
          <a:off x="309302" y="14756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{5DE31DEC-47AB-4188-82B7-72444735313A}</a:tableStyleId>
              </a:tblPr>
              <a:tblGrid>
                <a:gridCol w="732875"/>
                <a:gridCol w="1104600"/>
                <a:gridCol w="2263325"/>
                <a:gridCol w="1017950"/>
                <a:gridCol w="1017950"/>
                <a:gridCol w="1017950"/>
                <a:gridCol w="1120825"/>
                <a:gridCol w="1048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Activity 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Activity 설명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기준 유무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업무 주기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소요시간 (TAT)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System 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Menu 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4"/>
          <p:cNvSpPr txBox="1"/>
          <p:nvPr/>
        </p:nvSpPr>
        <p:spPr>
          <a:xfrm>
            <a:off x="809245" y="2241541"/>
            <a:ext cx="8254544" cy="564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67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M8. To-Be 업무 프로세스 정의 </a:t>
            </a:r>
            <a:endParaRPr b="1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0"/>
          <p:cNvSpPr txBox="1"/>
          <p:nvPr/>
        </p:nvSpPr>
        <p:spPr>
          <a:xfrm>
            <a:off x="262467" y="115769"/>
            <a:ext cx="5785907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[참고] To-Be 업무 프로세스 정의서 작성_Template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0"/>
          <p:cNvSpPr txBox="1"/>
          <p:nvPr/>
        </p:nvSpPr>
        <p:spPr>
          <a:xfrm>
            <a:off x="4464752" y="5919256"/>
            <a:ext cx="49521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※ 추진 중 예상 가능한 제약 사항 (정성적 요소 포함)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0"/>
          <p:cNvSpPr/>
          <p:nvPr/>
        </p:nvSpPr>
        <p:spPr>
          <a:xfrm>
            <a:off x="309302" y="864022"/>
            <a:ext cx="1313940" cy="360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 정의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0"/>
          <p:cNvSpPr/>
          <p:nvPr/>
        </p:nvSpPr>
        <p:spPr>
          <a:xfrm>
            <a:off x="1623243" y="864022"/>
            <a:ext cx="8011035" cy="360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40"/>
          <p:cNvSpPr/>
          <p:nvPr/>
        </p:nvSpPr>
        <p:spPr>
          <a:xfrm>
            <a:off x="307976" y="5583043"/>
            <a:ext cx="1313940" cy="614196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제약 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0"/>
          <p:cNvSpPr/>
          <p:nvPr/>
        </p:nvSpPr>
        <p:spPr>
          <a:xfrm>
            <a:off x="1621917" y="5583042"/>
            <a:ext cx="8011035" cy="6141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ko-K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140"/>
          <p:cNvGrpSpPr/>
          <p:nvPr/>
        </p:nvGrpSpPr>
        <p:grpSpPr>
          <a:xfrm>
            <a:off x="307976" y="1310648"/>
            <a:ext cx="9318183" cy="4159849"/>
            <a:chOff x="307976" y="1310648"/>
            <a:chExt cx="9318183" cy="4159849"/>
          </a:xfrm>
        </p:grpSpPr>
        <p:sp>
          <p:nvSpPr>
            <p:cNvPr id="426" name="Google Shape;426;p140"/>
            <p:cNvSpPr/>
            <p:nvPr/>
          </p:nvSpPr>
          <p:spPr>
            <a:xfrm>
              <a:off x="307976" y="1310648"/>
              <a:ext cx="1313940" cy="37672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선행 Work/Event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40"/>
            <p:cNvSpPr/>
            <p:nvPr/>
          </p:nvSpPr>
          <p:spPr>
            <a:xfrm>
              <a:off x="1621918" y="1310648"/>
              <a:ext cx="6690302" cy="37672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Activity Flow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40"/>
            <p:cNvSpPr/>
            <p:nvPr/>
          </p:nvSpPr>
          <p:spPr>
            <a:xfrm>
              <a:off x="8312219" y="1310648"/>
              <a:ext cx="1313940" cy="37672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후행 Work/Event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40"/>
            <p:cNvSpPr/>
            <p:nvPr/>
          </p:nvSpPr>
          <p:spPr>
            <a:xfrm>
              <a:off x="307976" y="1664981"/>
              <a:ext cx="1313940" cy="3805516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Process 정의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40"/>
            <p:cNvSpPr/>
            <p:nvPr/>
          </p:nvSpPr>
          <p:spPr>
            <a:xfrm>
              <a:off x="1621918" y="1664981"/>
              <a:ext cx="6690302" cy="3805516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40"/>
            <p:cNvSpPr/>
            <p:nvPr/>
          </p:nvSpPr>
          <p:spPr>
            <a:xfrm>
              <a:off x="8312219" y="1664981"/>
              <a:ext cx="1313940" cy="3805516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Process 정의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41"/>
          <p:cNvSpPr txBox="1"/>
          <p:nvPr/>
        </p:nvSpPr>
        <p:spPr>
          <a:xfrm>
            <a:off x="262467" y="115769"/>
            <a:ext cx="5785907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[참고] To-Be 업무 프로세스 정의서 작성_Template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41"/>
          <p:cNvSpPr txBox="1"/>
          <p:nvPr/>
        </p:nvSpPr>
        <p:spPr>
          <a:xfrm>
            <a:off x="5628760" y="549781"/>
            <a:ext cx="3971477" cy="248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※ 실행Agent는 조별 활동 결과에 따라 2~3개로 도출 가능</a:t>
            </a:r>
            <a:endParaRPr b="0" i="0" sz="9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41"/>
          <p:cNvSpPr/>
          <p:nvPr/>
        </p:nvSpPr>
        <p:spPr>
          <a:xfrm>
            <a:off x="309302" y="864022"/>
            <a:ext cx="1313940" cy="360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 정의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41"/>
          <p:cNvSpPr/>
          <p:nvPr/>
        </p:nvSpPr>
        <p:spPr>
          <a:xfrm>
            <a:off x="1623243" y="864022"/>
            <a:ext cx="8011035" cy="360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0" name="Google Shape;440;p141"/>
          <p:cNvGraphicFramePr/>
          <p:nvPr/>
        </p:nvGraphicFramePr>
        <p:xfrm>
          <a:off x="309302" y="23588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{5DE31DEC-47AB-4188-82B7-72444735313A}</a:tableStyleId>
              </a:tblPr>
              <a:tblGrid>
                <a:gridCol w="732875"/>
                <a:gridCol w="1024475"/>
                <a:gridCol w="2343425"/>
                <a:gridCol w="1017950"/>
                <a:gridCol w="1017950"/>
                <a:gridCol w="1017950"/>
                <a:gridCol w="1120825"/>
                <a:gridCol w="1048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Activity 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Activity 설명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기준 유무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업무 주기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소요시간 (TAT)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System 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Menu 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41" name="Google Shape;441;p141"/>
          <p:cNvSpPr/>
          <p:nvPr/>
        </p:nvSpPr>
        <p:spPr>
          <a:xfrm>
            <a:off x="309302" y="1278975"/>
            <a:ext cx="1313940" cy="87341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적용 AI 기술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41"/>
          <p:cNvSpPr/>
          <p:nvPr/>
        </p:nvSpPr>
        <p:spPr>
          <a:xfrm>
            <a:off x="1623243" y="1278976"/>
            <a:ext cx="8011035" cy="8734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41"/>
          <p:cNvSpPr/>
          <p:nvPr/>
        </p:nvSpPr>
        <p:spPr>
          <a:xfrm>
            <a:off x="1816161" y="1369184"/>
            <a:ext cx="1324604" cy="327915"/>
          </a:xfrm>
          <a:prstGeom prst="roundRect">
            <a:avLst>
              <a:gd fmla="val 0" name="adj"/>
            </a:avLst>
          </a:prstGeom>
          <a:solidFill>
            <a:srgbClr val="D8D8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 생성형</a:t>
            </a: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(LLM)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41"/>
          <p:cNvSpPr/>
          <p:nvPr/>
        </p:nvSpPr>
        <p:spPr>
          <a:xfrm>
            <a:off x="4101404" y="1379852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검색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41"/>
          <p:cNvSpPr/>
          <p:nvPr/>
        </p:nvSpPr>
        <p:spPr>
          <a:xfrm>
            <a:off x="5003577" y="1379852"/>
            <a:ext cx="820100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□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41"/>
          <p:cNvSpPr/>
          <p:nvPr/>
        </p:nvSpPr>
        <p:spPr>
          <a:xfrm>
            <a:off x="6760216" y="1379852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 최적화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1"/>
          <p:cNvSpPr/>
          <p:nvPr/>
        </p:nvSpPr>
        <p:spPr>
          <a:xfrm>
            <a:off x="3215133" y="1379852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□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41"/>
          <p:cNvSpPr/>
          <p:nvPr/>
        </p:nvSpPr>
        <p:spPr>
          <a:xfrm>
            <a:off x="5873945" y="1379852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□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41"/>
          <p:cNvSpPr/>
          <p:nvPr/>
        </p:nvSpPr>
        <p:spPr>
          <a:xfrm>
            <a:off x="1816161" y="1738132"/>
            <a:ext cx="1324604" cy="327915"/>
          </a:xfrm>
          <a:prstGeom prst="roundRect">
            <a:avLst>
              <a:gd fmla="val 0" name="adj"/>
            </a:avLst>
          </a:prstGeom>
          <a:solidFill>
            <a:srgbClr val="D8D8D8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 분석형(ML/DL)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41"/>
          <p:cNvSpPr/>
          <p:nvPr/>
        </p:nvSpPr>
        <p:spPr>
          <a:xfrm>
            <a:off x="8574035" y="1751733"/>
            <a:ext cx="841719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분류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41"/>
          <p:cNvSpPr/>
          <p:nvPr/>
        </p:nvSpPr>
        <p:spPr>
          <a:xfrm>
            <a:off x="5010952" y="1764346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□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최적화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41"/>
          <p:cNvSpPr/>
          <p:nvPr/>
        </p:nvSpPr>
        <p:spPr>
          <a:xfrm>
            <a:off x="5892953" y="1764346"/>
            <a:ext cx="812720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 이상탐지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41"/>
          <p:cNvSpPr/>
          <p:nvPr/>
        </p:nvSpPr>
        <p:spPr>
          <a:xfrm>
            <a:off x="4105678" y="1764346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□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41"/>
          <p:cNvSpPr/>
          <p:nvPr/>
        </p:nvSpPr>
        <p:spPr>
          <a:xfrm>
            <a:off x="7673975" y="1764346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□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시뮬레이션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41"/>
          <p:cNvSpPr/>
          <p:nvPr/>
        </p:nvSpPr>
        <p:spPr>
          <a:xfrm>
            <a:off x="6760216" y="1764347"/>
            <a:ext cx="843309" cy="258704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□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변환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41"/>
          <p:cNvSpPr/>
          <p:nvPr/>
        </p:nvSpPr>
        <p:spPr>
          <a:xfrm>
            <a:off x="7673975" y="1379852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 이상탐지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41"/>
          <p:cNvSpPr/>
          <p:nvPr/>
        </p:nvSpPr>
        <p:spPr>
          <a:xfrm>
            <a:off x="3195308" y="1764346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□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41"/>
          <p:cNvSpPr/>
          <p:nvPr/>
        </p:nvSpPr>
        <p:spPr>
          <a:xfrm>
            <a:off x="8574863" y="1379852"/>
            <a:ext cx="831727" cy="271005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 데이터 변환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42"/>
          <p:cNvSpPr txBox="1"/>
          <p:nvPr/>
        </p:nvSpPr>
        <p:spPr>
          <a:xfrm>
            <a:off x="271077" y="602442"/>
            <a:ext cx="5785907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[참고] 핵심성공요소 정의 (장애요인, 선결조건 등) 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4" name="Google Shape;464;p142"/>
          <p:cNvGraphicFramePr/>
          <p:nvPr/>
        </p:nvGraphicFramePr>
        <p:xfrm>
          <a:off x="422085" y="13252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{74D358D2-6C71-4418-A4F1-CD2C1D065E0F}</a:tableStyleId>
              </a:tblPr>
              <a:tblGrid>
                <a:gridCol w="1820600"/>
                <a:gridCol w="2705425"/>
                <a:gridCol w="2263000"/>
                <a:gridCol w="2263000"/>
              </a:tblGrid>
              <a:tr h="25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관점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핵심성공요소</a:t>
                      </a:r>
                      <a:endParaRPr sz="1400" u="none" cap="none" strike="noStrike"/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장애요인</a:t>
                      </a:r>
                      <a:endParaRPr sz="1400" u="none" cap="none" strike="noStrike"/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선결 조건</a:t>
                      </a:r>
                      <a:endParaRPr sz="1400" u="none" cap="none" strike="noStrike"/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8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 및 프로세스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8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  및 인프라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조직문화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2a51cd512_0_26"/>
          <p:cNvSpPr txBox="1"/>
          <p:nvPr/>
        </p:nvSpPr>
        <p:spPr>
          <a:xfrm>
            <a:off x="271077" y="602442"/>
            <a:ext cx="5785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[참고] 적용기술 문의 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0" name="Google Shape;470;g3e2a51cd512_0_26"/>
          <p:cNvGraphicFramePr/>
          <p:nvPr/>
        </p:nvGraphicFramePr>
        <p:xfrm>
          <a:off x="422085" y="13252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{74D358D2-6C71-4418-A4F1-CD2C1D065E0F}</a:tableStyleId>
              </a:tblPr>
              <a:tblGrid>
                <a:gridCol w="1820600"/>
                <a:gridCol w="2705425"/>
                <a:gridCol w="2263000"/>
                <a:gridCol w="2263000"/>
              </a:tblGrid>
              <a:tr h="25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ko-KR" sz="13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To-Be Process ID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적용 대상 업무</a:t>
                      </a:r>
                      <a:endParaRPr sz="1400" u="none" cap="none" strike="noStrike"/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 요건</a:t>
                      </a:r>
                      <a:endParaRPr sz="1400" u="none" cap="none" strike="noStrike"/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관련 대응 팀 (@DT)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8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50" marL="990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8"/>
          <p:cNvSpPr txBox="1"/>
          <p:nvPr/>
        </p:nvSpPr>
        <p:spPr>
          <a:xfrm>
            <a:off x="809245" y="2241541"/>
            <a:ext cx="8254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67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M9. 개발 요구사항 일정 수립</a:t>
            </a:r>
            <a:endParaRPr sz="4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52"/>
          <p:cNvSpPr/>
          <p:nvPr/>
        </p:nvSpPr>
        <p:spPr>
          <a:xfrm>
            <a:off x="8927806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52"/>
          <p:cNvSpPr/>
          <p:nvPr/>
        </p:nvSpPr>
        <p:spPr>
          <a:xfrm>
            <a:off x="9172379" y="97549"/>
            <a:ext cx="216000" cy="144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52"/>
          <p:cNvSpPr/>
          <p:nvPr/>
        </p:nvSpPr>
        <p:spPr>
          <a:xfrm>
            <a:off x="9416950" y="97549"/>
            <a:ext cx="216000" cy="144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"/>
              <a:buFont typeface="Arial"/>
              <a:buNone/>
            </a:pPr>
            <a:r>
              <a:t/>
            </a:r>
            <a:endParaRPr b="0" i="0" sz="13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52"/>
          <p:cNvSpPr txBox="1"/>
          <p:nvPr/>
        </p:nvSpPr>
        <p:spPr>
          <a:xfrm>
            <a:off x="262467" y="115769"/>
            <a:ext cx="6694514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[참고] 개발 요구사항 일정 수립_Template</a:t>
            </a:r>
            <a:endParaRPr/>
          </a:p>
        </p:txBody>
      </p:sp>
      <p:graphicFrame>
        <p:nvGraphicFramePr>
          <p:cNvPr id="484" name="Google Shape;484;p152"/>
          <p:cNvGraphicFramePr/>
          <p:nvPr/>
        </p:nvGraphicFramePr>
        <p:xfrm>
          <a:off x="290538" y="10021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{5DE31DEC-47AB-4188-82B7-72444735313A}</a:tableStyleId>
              </a:tblPr>
              <a:tblGrid>
                <a:gridCol w="1340825"/>
                <a:gridCol w="1996025"/>
                <a:gridCol w="1996025"/>
                <a:gridCol w="1996025"/>
                <a:gridCol w="1996025"/>
              </a:tblGrid>
              <a:tr h="442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b="1" i="0" sz="13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M+3</a:t>
                      </a:r>
                      <a:endParaRPr/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M+6</a:t>
                      </a:r>
                      <a:endParaRPr/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M+9</a:t>
                      </a:r>
                      <a:endParaRPr/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M+12</a:t>
                      </a:r>
                      <a:endParaRPr/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150" marB="3715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150" marB="3715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모델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150" marB="3715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150" marB="3715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36000" marL="3600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2000" marB="72000" marR="99050" marL="99050" anchor="ctr">
                    <a:lnL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85" name="Google Shape;485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4624" y="2228191"/>
            <a:ext cx="3210326" cy="3264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2018-11-13T06:47:23Z</dcterms:created>
  <dc:creator>Windows 사용자;liah.cha0@skcc.com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0x010100323793FD3FB2E342BB7D9E95FE935AD3</vt:lpwstr>
  </property>
  <property fmtid="{D5CDD505-2E9C-101B-9397-08002B2CF9AE}" pid="3" name="RoleCategory">
    <vt:i4>0</vt:i4>
  </property>
  <property fmtid="{D5CDD505-2E9C-101B-9397-08002B2CF9AE}" pid="4" name="MediaServiceImageTags">
    <vt:lpwstr/>
  </property>
  <property fmtid="{D5CDD505-2E9C-101B-9397-08002B2CF9AE}" pid="5" name="Order">
    <vt:lpwstr>65200.0000000000</vt:lpwstr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